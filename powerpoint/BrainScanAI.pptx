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Supervisé (CNN)</c:v>
                </c:pt>
              </c:strCache>
            </c:strRef>
          </c:tx>
          <c:spPr>
            <a:solidFill>
              <a:srgbClr val="95A6A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D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Rappel cancer</c:v>
                  </c:pt>
                  <c:pt idx="1">
                    <c:v>F1 cancer</c:v>
                  </c:pt>
                  <c:pt idx="2">
                    <c:v>Accuracy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0.76</c:v>
                </c:pt>
                <c:pt idx="1">
                  <c:v>0.712</c:v>
                </c:pt>
                <c:pt idx="2">
                  <c:v>0.693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Clustering → CNN</c:v>
                </c:pt>
              </c:strCache>
            </c:strRef>
          </c:tx>
          <c:spPr>
            <a:solidFill>
              <a:srgbClr val="4E8C9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D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Rappel cancer</c:v>
                  </c:pt>
                  <c:pt idx="1">
                    <c:v>F1 cancer</c:v>
                  </c:pt>
                  <c:pt idx="2">
                    <c:v>Accuracy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0.72</c:v>
                </c:pt>
                <c:pt idx="1">
                  <c:v>0.734</c:v>
                </c:pt>
                <c:pt idx="2">
                  <c:v>0.74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Label propagation</c:v>
                </c:pt>
              </c:strCache>
            </c:strRef>
          </c:tx>
          <c:spPr>
            <a:solidFill>
              <a:srgbClr val="12B5A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D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Rappel cancer</c:v>
                  </c:pt>
                  <c:pt idx="1">
                    <c:v>F1 cancer</c:v>
                  </c:pt>
                  <c:pt idx="2">
                    <c:v>Accuracy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0.733</c:v>
                </c:pt>
                <c:pt idx="1">
                  <c:v>0.846</c:v>
                </c:pt>
                <c:pt idx="2">
                  <c:v>0.867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E2D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1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17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1E2D33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93 % des images sont muettes. Tout l'enjeu du semi-supervisé est là : faire parler ces 1406 images pour ne pas dépendre uniquement des 100 labels experts.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séparation des jeux : c'est le garde-fou méthodologique central du semi-supervisé.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gèle ResNet et on l'utilise comme extracteur de features générique. Calculé une seule fois, réutilisé partout — d'où la rapidité.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ARI 0,124 : faible mais non nul. Le signal existe mais les features sont mal adaptées à l'IRM. C'est LA cause racine des limites de la phase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label propagation opère directement sur les embeddings ResNet (transductive : elle voit les features de test, jamais leurs labels). Les CNN, eux, apprenaient leurs features de zéro sur trop peu d'images — d'où leur plafond.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 narratif : biais hérité → correction par les vrais labels → mais bruit qui plafonne le tout. Tout pointe vers la qualité des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critère 'succès fort' n'est PAS atteint ici — et c'est une information utile, pas un échec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clé : le verrou est technique (qualité features), pas financier. Le compute est quasi gratuit à cette échelle.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Ordre d'impact : features d'abord. Sans meilleures features, le reste ne suffira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371600"/>
            <a:ext cx="4206240" cy="4206240"/>
          </a:xfrm>
          <a:prstGeom prst="ellipse">
            <a:avLst/>
          </a:prstGeom>
          <a:solidFill>
            <a:srgbClr val="0C7B8C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2743200"/>
            <a:ext cx="3108960" cy="3108960"/>
          </a:xfrm>
          <a:prstGeom prst="ellipse">
            <a:avLst/>
          </a:prstGeom>
          <a:solidFill>
            <a:srgbClr val="12B5A5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85800"/>
            <a:ext cx="914400" cy="914400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89611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74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12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BrainScan AI — Phase 1 R&amp;D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tumeurs cérébrales</a:t>
            </a:r>
            <a:endParaRPr lang="en-US" sz="3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apprentissage semi-supervisé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analytique sur IRM faiblement étiquetées — CurelyticsIA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enjeu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43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CurelyticsIA veut automatiser la détection de tumeurs sur IRM cérébrales. L'annotation par des radiologues experts est rare et coûteuse : la quasi-totalité des images n'est pas étiquetée.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2670048" cy="2286000"/>
          </a:xfrm>
          <a:prstGeom prst="roundRect">
            <a:avLst>
              <a:gd name="adj" fmla="val 3200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65176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1 506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57200" y="336499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IRM collectées (512×512, niveaux de gris)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36976" y="2148840"/>
            <a:ext cx="2670048" cy="2286000"/>
          </a:xfrm>
          <a:prstGeom prst="roundRect">
            <a:avLst>
              <a:gd name="adj" fmla="val 3200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36976" y="265176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236976" y="336499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étiquetées par des experts (50 normal / 50 cancer)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16752" y="2148840"/>
            <a:ext cx="2670048" cy="2286000"/>
          </a:xfrm>
          <a:prstGeom prst="roundRect">
            <a:avLst>
              <a:gd name="adj" fmla="val 3200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016752" y="265176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1 406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016752" y="336499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aucune étiquette (≈ 93 % du jeu)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exploiter les images non étiquetées pour amplifier la valeur des quelques labels experts disponibles.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Démarche en 4 étapes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554480"/>
            <a:ext cx="1993392" cy="2606040"/>
          </a:xfrm>
          <a:prstGeom prst="roundRect">
            <a:avLst>
              <a:gd name="adj" fmla="val 3670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69848" y="1828800"/>
            <a:ext cx="768096" cy="768096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4" y="2002536"/>
            <a:ext cx="420624" cy="4206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72491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Features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85216" y="3127248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 pré-entraîné (gelé) → 1 vecteur de 2048 dimensions par image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2414016" y="2423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2651760" y="1554480"/>
            <a:ext cx="1993392" cy="2606040"/>
          </a:xfrm>
          <a:prstGeom prst="roundRect">
            <a:avLst>
              <a:gd name="adj" fmla="val 3670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264408" y="1828800"/>
            <a:ext cx="768096" cy="768096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144" y="2002536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743200" y="272491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Clustering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2779776" y="3127248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+ K-Means (k=2) pour regrouper les images par similarité visuelle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4608576" y="2423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2"/>
          <p:cNvSpPr/>
          <p:nvPr/>
        </p:nvSpPr>
        <p:spPr>
          <a:xfrm>
            <a:off x="4846320" y="1554480"/>
            <a:ext cx="1993392" cy="2606040"/>
          </a:xfrm>
          <a:prstGeom prst="roundRect">
            <a:avLst>
              <a:gd name="adj" fmla="val 3670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458968" y="1828800"/>
            <a:ext cx="768096" cy="768096"/>
          </a:xfrm>
          <a:prstGeom prst="ellipse">
            <a:avLst/>
          </a:prstGeom>
          <a:solidFill>
            <a:srgbClr val="E4572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2002536"/>
            <a:ext cx="420624" cy="42062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937760" y="272491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Labels faibles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4974336" y="3127248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cluster sert de pseudo-étiquette pour les 1 406 images non labellisées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6803136" y="24231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7040880" y="1554480"/>
            <a:ext cx="1993392" cy="2606040"/>
          </a:xfrm>
          <a:prstGeom prst="roundRect">
            <a:avLst>
              <a:gd name="adj" fmla="val 3670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653528" y="1828800"/>
            <a:ext cx="768096" cy="768096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2002536"/>
            <a:ext cx="420624" cy="42062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32320" y="2724912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CNN semi-sup.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7168896" y="3127248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Pré-entraînement sur labels faibles, puis affinage sur les vrais labels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jeux — « faiblement » et « fortement » labellisés — restent strictement séparés : les vrais labels ne servent qu'à évaluer, jamais à contaminer l'entraînement faible.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Étapes 1–2 : préparation &amp; extraction de features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858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85800" y="187452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512×512, en réalité niveaux de gris (R=G=B)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donnée couleur exploitable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Redimensionnement 224 + normalisation ImageNet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parfaitement équilibrées (50 / 50)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(ResNet50 gelé)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00600" y="196596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800600" y="267919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 entraînable (réseau gelé)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720840" y="196596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2048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6720840" y="267919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par image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00600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s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4800600" y="395935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des 1506 (CPU)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720840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fois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720840" y="3959352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calculé puis sauvegardé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: clustering &amp; labels faibles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2670048" cy="1783080"/>
          </a:xfrm>
          <a:prstGeom prst="roundRect">
            <a:avLst>
              <a:gd name="adj" fmla="val 4103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155448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0,124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226771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ARI (alignement clusters ↔ vérité)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36976" y="1280160"/>
            <a:ext cx="2670048" cy="1783080"/>
          </a:xfrm>
          <a:prstGeom prst="roundRect">
            <a:avLst>
              <a:gd name="adj" fmla="val 4103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236976" y="155448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3236976" y="226771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pureté du cluster « cancer » (20/22)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016752" y="1280160"/>
            <a:ext cx="2670048" cy="1783080"/>
          </a:xfrm>
          <a:prstGeom prst="roundRect">
            <a:avLst>
              <a:gd name="adj" fmla="val 4103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016752" y="155448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6016752" y="226771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cancer du clustering (20/50)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7200" y="3291840"/>
            <a:ext cx="8229600" cy="1417320"/>
          </a:xfrm>
          <a:prstGeom prst="roundRect">
            <a:avLst>
              <a:gd name="adj" fmla="val 5161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85800" y="34015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5800" y="3703320"/>
            <a:ext cx="7818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isole un petit groupe d'IRM nettement « tumorales » (cluster pur à 91 %), mais noie le reste dans un cluster mixte. Les features ImageNet captent donc un signal réel mais insuffisant pour une séparation nette. Conséquence directe : les pseudo-labels sous-détectent fortement le cancer — ils sont fiables quand ils disent « cancer », bruités quand ils disent « normal ».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des trois approches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30 IRM jamais vues (cancer = classe positive)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508760"/>
          <a:ext cx="5349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897880" y="1508760"/>
            <a:ext cx="2788920" cy="3108960"/>
          </a:xfrm>
          <a:prstGeom prst="roundRect">
            <a:avLst>
              <a:gd name="adj" fmla="val 2623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126480" y="16459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126480" y="2011680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label propagation gagne nettement.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≈ 0,85 et accuracy ≈ 0,87 sur ce test ; jusqu'à rappel 0,87 / F1 0,91 sur 5 découpages. Loin devant les deux CNN.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révèle la comparaison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563624"/>
            <a:ext cx="512064" cy="512064"/>
          </a:xfrm>
          <a:prstGeom prst="ellipse">
            <a:avLst/>
          </a:prstGeom>
          <a:solidFill>
            <a:srgbClr val="E4572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82496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453896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CNN appris de zéro plafonnent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1801368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70 (ou 1 406 bruitées) images, le CNN apprend mal ses propres features : supervisé et clustering-semi restent à égalité (F1 ≈ 0,72).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57200" y="242316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8368" y="2660904"/>
            <a:ext cx="512064" cy="512064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7977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2551176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label propagation réutilise les features ResNet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371600" y="2898648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CNN à entraîner : elle propage les 70 vrais labels à travers le graphe de similarité des embeddings pré-entraînés.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57200" y="352044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58368" y="3758184"/>
            <a:ext cx="512064" cy="512064"/>
          </a:xfrm>
          <a:prstGeom prst="ellipse">
            <a:avLst/>
          </a:prstGeom>
          <a:solidFill>
            <a:srgbClr val="12B5A5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8770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3648456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F1 0,91 et rappel 0,87 (sur 5 découpages)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371600" y="3995928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semi-supervisé apporte bien un gain — le verrou n'était pas l'idée, mais le véhicule : un CNN entraîné de zéro sur trop peu de données.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 prioritaire &amp; « definition of done »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481328"/>
            <a:ext cx="548640" cy="548640"/>
          </a:xfrm>
          <a:prstGeom prst="ellipse">
            <a:avLst/>
          </a:prstGeom>
          <a:solidFill>
            <a:srgbClr val="E4572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1609344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51790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 rappel sur le cancer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685800" y="219456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négatif = tumeur manquée = patient non pris en charge. C'est l'erreur la plus grave.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fausse alerte (faux positif) coûte un examen complémentaire — bien moins lourd.</a:t>
            </a:r>
            <a:endParaRPr lang="en-US" sz="12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 optimise le rappel cancer, F1 comme compromis. L'accuracy seule serait trompeuse.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663440" y="12801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892040" y="1481328"/>
            <a:ext cx="548640" cy="548640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6" y="1609344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577840" y="1517904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892040" y="219456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sans aucune fuite test ↔ entraînement (vérifié : 0)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&amp; F1 cancer rapportés sur un test jamais vu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chiffrée supervisé vs semi, moyennée sur plusieurs graines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Succès « fort » = le semi égale ou dépasse le supervisé en rappel cancer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à l'échelle : l'économie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1155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5 000 € pour labelliser 4 millions d'images.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1828800"/>
            <a:ext cx="2670048" cy="2103120"/>
          </a:xfrm>
          <a:prstGeom prst="roundRect">
            <a:avLst>
              <a:gd name="adj" fmla="val 3478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24028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0,20 €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57200" y="295351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coût/image aujourd'hui (300 € / 1 500)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36976" y="1828800"/>
            <a:ext cx="2670048" cy="2103120"/>
          </a:xfrm>
          <a:prstGeom prst="roundRect">
            <a:avLst>
              <a:gd name="adj" fmla="val 3478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36976" y="224028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C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0,00125 €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236976" y="295351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coût/image visé (5 000 € / 4 M)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16752" y="1828800"/>
            <a:ext cx="2670048" cy="2103120"/>
          </a:xfrm>
          <a:prstGeom prst="roundRect">
            <a:avLst>
              <a:gd name="adj" fmla="val 3478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016752" y="2240280"/>
            <a:ext cx="267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160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016752" y="2953512"/>
            <a:ext cx="2670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de coût par image exigée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7200" y="4114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pur de compute (inférence sur GPU) tient largement dans 5 000 €. La contrainte n'est donc pas le budget mais la QUALITÉ des labels produits : à 0,68 d'accuracy au clustering, propager tel quel à 4 M d'images amplifierait le bruit.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512064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6576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Faisable — sous 4 conditions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554480"/>
            <a:ext cx="512064" cy="512064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73352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4904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features adaptées au domaine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325880" y="19293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ImageNet par un encodeur auto-supervisé (SimCLR/DINO) entraîné sur les 4 M images non labellisées, ou un backbone médical. C'est le levier n°1 (ARI à 0,12 aujourd'hui).</a:t>
            </a:r>
            <a:endParaRPr lang="en-US" sz="1080" dirty="0"/>
          </a:p>
        </p:txBody>
      </p:sp>
      <p:sp>
        <p:nvSpPr>
          <p:cNvPr id="10" name="Shape 6"/>
          <p:cNvSpPr/>
          <p:nvPr/>
        </p:nvSpPr>
        <p:spPr>
          <a:xfrm>
            <a:off x="4663440" y="132588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864608" y="1554480"/>
            <a:ext cx="512064" cy="512064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6733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532120" y="14904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l'active learning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5532120" y="19293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Dépenser le budget d'annotation experte sur les images les plus incertaines plutôt qu'au hasard : maximiser la valeur de chaque label payé.</a:t>
            </a:r>
            <a:endParaRPr lang="en-US" sz="1080" dirty="0"/>
          </a:p>
        </p:txBody>
      </p:sp>
      <p:sp>
        <p:nvSpPr>
          <p:cNvPr id="15" name="Shape 10"/>
          <p:cNvSpPr/>
          <p:nvPr/>
        </p:nvSpPr>
        <p:spPr>
          <a:xfrm>
            <a:off x="457200" y="292608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58368" y="3154680"/>
            <a:ext cx="512064" cy="512064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73552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30906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humain dans la boucle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325880" y="35295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experte des cas que le modèle flague comme « cancer » : on privilégie le rappel, l'humain filtre les fausses alertes.</a:t>
            </a:r>
            <a:endParaRPr lang="en-US" sz="1080" dirty="0"/>
          </a:p>
        </p:txBody>
      </p:sp>
      <p:sp>
        <p:nvSpPr>
          <p:cNvPr id="20" name="Shape 14"/>
          <p:cNvSpPr/>
          <p:nvPr/>
        </p:nvSpPr>
        <p:spPr>
          <a:xfrm>
            <a:off x="4663440" y="292608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EFF6F7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864608" y="3154680"/>
            <a:ext cx="512064" cy="512064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27355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532120" y="30906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GPU &amp; évaluation robuste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5532120" y="35295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B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pour 4 M images, et un jeu de test conséquent (≫ 30) pour mesurer des gains fiables, pas du bruit.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2834640"/>
            <a:ext cx="3840480" cy="3840480"/>
          </a:xfrm>
          <a:prstGeom prst="ellipse">
            <a:avLst/>
          </a:prstGeom>
          <a:solidFill>
            <a:srgbClr val="0C7B8C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1280160"/>
            <a:ext cx="3474720" cy="3474720"/>
          </a:xfrm>
          <a:prstGeom prst="ellipse">
            <a:avLst/>
          </a:prstGeom>
          <a:solidFill>
            <a:srgbClr val="12B5A5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548640"/>
            <a:ext cx="868680" cy="868680"/>
          </a:xfrm>
          <a:prstGeom prst="ellipse">
            <a:avLst/>
          </a:prstGeom>
          <a:solidFill>
            <a:srgbClr val="0C7B8C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7406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600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12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semi-supervisé fonctionne — à condition d'opérer dans un bon espace de features.</a:t>
            </a:r>
            <a:endParaRPr lang="en-US" sz="2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propagation : F1 0,91 et rappel 0,87, loin devant les CNN appris de zéro.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548640" y="370332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 confirmé : la qualité des features. Embeddings pré-entraînés + propagation légère battent un CNN entraîné de zéro.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à l'échelle : features auto-supervisées (SimCLR/DINO) + propagation et active learning. Pas encore un diagnostic clinique fiable (rappel 0,87).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BrainScan AI — Phase 1 R&amp;D</dc:title>
  <dc:subject>PptxGenJS Presentation</dc:subject>
  <dc:creator>CurelyticsIA — Data Science</dc:creator>
  <cp:lastModifiedBy>CurelyticsIA — Data Science</cp:lastModifiedBy>
  <cp:revision>1</cp:revision>
  <dcterms:created xsi:type="dcterms:W3CDTF">2026-06-10T09:29:47Z</dcterms:created>
  <dcterms:modified xsi:type="dcterms:W3CDTF">2026-06-10T09:29:47Z</dcterms:modified>
</cp:coreProperties>
</file>