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" charset="1" panose="020F0502020204030204"/>
      <p:regular r:id="rId21"/>
    </p:embeddedFont>
    <p:embeddedFont>
      <p:font typeface="Calibri (MS) Bold" charset="1" panose="020F0702030404030204"/>
      <p:regular r:id="rId22"/>
    </p:embeddedFont>
    <p:embeddedFont>
      <p:font typeface="Calibri (MS) Italics" charset="1" panose="020F05020202040A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93 % des images sont muettes. Tout l'enjeu du semi-supervisé est là : faire parler ces 1406 images.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On gèle ResNet et on l'utilise comme extracteur générique. L'égalisation CLAHE améliore nettement la qualité des features (cf. slide suivante).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CLAHE = Contrast Limited Adaptive Histogram Equalization. Gain mesuré : ARI 0,124 → 0,224, AUC 0,947 → 0,975.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label propagation opère sur les embeddings ResNet égalisés (transductive). Les CNN apprenaient leurs features de zéro sur trop peu d'images — d'où leur plafond.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Répond à « comment je sais que ce n'est pas du surapprentissage ? » : test isolé, AUC stable, hyperparamètres validés, données contrôlées.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 critère 'succès fort' est ATTEINT : la label propagation dépasse le supervisé en rappel (0,87 vs 0,76).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2.jpe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Relationship Id="rId4" Target="../media/image2.jpe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2.jpeg" Type="http://schemas.openxmlformats.org/officeDocument/2006/relationships/image"/><Relationship Id="rId5" Target="../media/image11.png" Type="http://schemas.openxmlformats.org/officeDocument/2006/relationships/image"/><Relationship Id="rId6" Target="../media/image8.png" Type="http://schemas.openxmlformats.org/officeDocument/2006/relationships/image"/><Relationship Id="rId7" Target="../media/image4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3.png" Type="http://schemas.openxmlformats.org/officeDocument/2006/relationships/image"/><Relationship Id="rId4" Target="../media/image2.jpeg" Type="http://schemas.openxmlformats.org/officeDocument/2006/relationships/image"/><Relationship Id="rId5" Target="../media/image14.png" Type="http://schemas.openxmlformats.org/officeDocument/2006/relationships/image"/><Relationship Id="rId6" Target="../media/image6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5.png" Type="http://schemas.openxmlformats.org/officeDocument/2006/relationships/image"/><Relationship Id="rId4" Target="../media/image2.jpeg" Type="http://schemas.openxmlformats.org/officeDocument/2006/relationships/image"/><Relationship Id="rId5" Target="../media/image11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6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1.png" Type="http://schemas.openxmlformats.org/officeDocument/2006/relationships/image"/><Relationship Id="rId4" Target="../media/image2.jpeg" Type="http://schemas.openxmlformats.org/officeDocument/2006/relationships/image"/><Relationship Id="rId5" Target="../media/image12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81760" y="-2743200"/>
            <a:ext cx="8412480" cy="8412480"/>
            <a:chOff x="0" y="0"/>
            <a:chExt cx="11216640" cy="11216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16640" cy="11216640"/>
            </a:xfrm>
            <a:custGeom>
              <a:avLst/>
              <a:gdLst/>
              <a:ahLst/>
              <a:cxnLst/>
              <a:rect r="r" b="b" t="t" l="l"/>
              <a:pathLst>
                <a:path h="11216640" w="11216640">
                  <a:moveTo>
                    <a:pt x="0" y="5608320"/>
                  </a:moveTo>
                  <a:cubicBezTo>
                    <a:pt x="0" y="2510917"/>
                    <a:pt x="2510917" y="0"/>
                    <a:pt x="5608320" y="0"/>
                  </a:cubicBezTo>
                  <a:cubicBezTo>
                    <a:pt x="8705723" y="0"/>
                    <a:pt x="11216640" y="2510917"/>
                    <a:pt x="11216640" y="5608320"/>
                  </a:cubicBezTo>
                  <a:cubicBezTo>
                    <a:pt x="11216640" y="8705723"/>
                    <a:pt x="8705723" y="11216640"/>
                    <a:pt x="5608320" y="11216640"/>
                  </a:cubicBezTo>
                  <a:cubicBezTo>
                    <a:pt x="2510917" y="11216640"/>
                    <a:pt x="0" y="8705723"/>
                    <a:pt x="0" y="5608320"/>
                  </a:cubicBezTo>
                  <a:close/>
                </a:path>
              </a:pathLst>
            </a:custGeom>
            <a:solidFill>
              <a:srgbClr val="0C7B8C">
                <a:alpha val="470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10560" y="5486400"/>
            <a:ext cx="6217920" cy="6217920"/>
            <a:chOff x="0" y="0"/>
            <a:chExt cx="8290560" cy="8290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90560" cy="8290560"/>
            </a:xfrm>
            <a:custGeom>
              <a:avLst/>
              <a:gdLst/>
              <a:ahLst/>
              <a:cxnLst/>
              <a:rect r="r" b="b" t="t" l="l"/>
              <a:pathLst>
                <a:path h="8290560" w="8290560">
                  <a:moveTo>
                    <a:pt x="0" y="4145280"/>
                  </a:moveTo>
                  <a:cubicBezTo>
                    <a:pt x="0" y="1855851"/>
                    <a:pt x="1855851" y="0"/>
                    <a:pt x="4145280" y="0"/>
                  </a:cubicBezTo>
                  <a:cubicBezTo>
                    <a:pt x="6434709" y="0"/>
                    <a:pt x="8290560" y="1855851"/>
                    <a:pt x="8290560" y="4145280"/>
                  </a:cubicBezTo>
                  <a:cubicBezTo>
                    <a:pt x="8290560" y="6434709"/>
                    <a:pt x="6434709" y="8290560"/>
                    <a:pt x="4145280" y="8290560"/>
                  </a:cubicBezTo>
                  <a:cubicBezTo>
                    <a:pt x="1855851" y="8290560"/>
                    <a:pt x="0" y="6434709"/>
                    <a:pt x="0" y="4145280"/>
                  </a:cubicBezTo>
                  <a:close/>
                </a:path>
              </a:pathLst>
            </a:custGeom>
            <a:solidFill>
              <a:srgbClr val="12B5A5">
                <a:alpha val="313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1371600"/>
            <a:ext cx="1828800" cy="1828800"/>
            <a:chOff x="0" y="0"/>
            <a:chExt cx="2438400" cy="243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17904" y="1792224"/>
            <a:ext cx="987552" cy="987552"/>
            <a:chOff x="0" y="0"/>
            <a:chExt cx="1316736" cy="131673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3749040"/>
            <a:ext cx="15727680" cy="914400"/>
            <a:chOff x="0" y="0"/>
            <a:chExt cx="2097024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702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5142" r="0" b="-28514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09702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spc="400">
                  <a:solidFill>
                    <a:srgbClr val="12B5A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Projet BrainScan AI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4572000"/>
            <a:ext cx="16093440" cy="2743200"/>
            <a:chOff x="0" y="0"/>
            <a:chExt cx="21457920" cy="3657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579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312" r="0" b="-6431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42875"/>
              <a:ext cx="21457920" cy="3800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Détection de tumeurs cérébrales</a:t>
              </a:r>
            </a:p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 apprentissage semi-supervisé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7955280"/>
            <a:ext cx="16093440" cy="914400"/>
            <a:chOff x="0" y="0"/>
            <a:chExt cx="2145792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1457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AFC7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Exploration analytique sur IRM faiblement étiquetées                          CurelyticsIA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68096"/>
            <a:ext cx="1133856" cy="1133856"/>
            <a:chOff x="0" y="0"/>
            <a:chExt cx="1511808" cy="1511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0432" y="1024128"/>
            <a:ext cx="621792" cy="621792"/>
            <a:chOff x="0" y="0"/>
            <a:chExt cx="829056" cy="829056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40864" y="731520"/>
            <a:ext cx="14996160" cy="1207008"/>
            <a:chOff x="0" y="0"/>
            <a:chExt cx="19994880" cy="1609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086" r="0" b="-19208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9994880" cy="1714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Contexte &amp; enjeu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286000"/>
            <a:ext cx="16459200" cy="1645920"/>
            <a:chOff x="0" y="0"/>
            <a:chExt cx="2194560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19456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E2D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CurelyticsIA veut automatiser la détection de tumeurs sur IRM cérébrales. L'annotation par des radiologues experts est rare et coûteuse : la quasi-totalité des images n'est pas étiquetée.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4297680"/>
            <a:ext cx="5340096" cy="4572000"/>
            <a:chOff x="0" y="0"/>
            <a:chExt cx="7120128" cy="609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20128" cy="6096000"/>
            </a:xfrm>
            <a:custGeom>
              <a:avLst/>
              <a:gdLst/>
              <a:ahLst/>
              <a:cxnLst/>
              <a:rect r="r" b="b" t="t" l="l"/>
              <a:pathLst>
                <a:path h="6096000" w="7120128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925056" y="0"/>
                  </a:lnTo>
                  <a:cubicBezTo>
                    <a:pt x="7032752" y="0"/>
                    <a:pt x="7120128" y="87376"/>
                    <a:pt x="7120128" y="195072"/>
                  </a:cubicBezTo>
                  <a:lnTo>
                    <a:pt x="7120128" y="5900928"/>
                  </a:lnTo>
                  <a:cubicBezTo>
                    <a:pt x="7120128" y="6008624"/>
                    <a:pt x="7032752" y="6096000"/>
                    <a:pt x="6925056" y="6096000"/>
                  </a:cubicBezTo>
                  <a:lnTo>
                    <a:pt x="195072" y="6096000"/>
                  </a:lnTo>
                  <a:cubicBezTo>
                    <a:pt x="87376" y="6096000"/>
                    <a:pt x="0" y="6008624"/>
                    <a:pt x="0" y="590092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5303520"/>
            <a:ext cx="5340096" cy="1463040"/>
            <a:chOff x="0" y="0"/>
            <a:chExt cx="7120128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20128" cy="1950720"/>
            </a:xfrm>
            <a:custGeom>
              <a:avLst/>
              <a:gdLst/>
              <a:ahLst/>
              <a:cxnLst/>
              <a:rect r="r" b="b" t="t" l="l"/>
              <a:pathLst>
                <a:path h="195072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120" r="0" b="-2112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61925"/>
              <a:ext cx="7120128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0C7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1 506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6729984"/>
            <a:ext cx="5340096" cy="1280160"/>
            <a:chOff x="0" y="0"/>
            <a:chExt cx="7120128" cy="1706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20128" cy="1706880"/>
            </a:xfrm>
            <a:custGeom>
              <a:avLst/>
              <a:gdLst/>
              <a:ahLst/>
              <a:cxnLst/>
              <a:rect r="r" b="b" t="t" l="l"/>
              <a:pathLst>
                <a:path h="170688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280" r="0" b="-3128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120128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IRM collectées (512×512, niveaux de gris)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73952" y="4297680"/>
            <a:ext cx="5340096" cy="4572000"/>
            <a:chOff x="0" y="0"/>
            <a:chExt cx="7120128" cy="609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20128" cy="6096000"/>
            </a:xfrm>
            <a:custGeom>
              <a:avLst/>
              <a:gdLst/>
              <a:ahLst/>
              <a:cxnLst/>
              <a:rect r="r" b="b" t="t" l="l"/>
              <a:pathLst>
                <a:path h="6096000" w="7120128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925056" y="0"/>
                  </a:lnTo>
                  <a:cubicBezTo>
                    <a:pt x="7032752" y="0"/>
                    <a:pt x="7120128" y="87376"/>
                    <a:pt x="7120128" y="195072"/>
                  </a:cubicBezTo>
                  <a:lnTo>
                    <a:pt x="7120128" y="5900928"/>
                  </a:lnTo>
                  <a:cubicBezTo>
                    <a:pt x="7120128" y="6008624"/>
                    <a:pt x="7032752" y="6096000"/>
                    <a:pt x="6925056" y="6096000"/>
                  </a:cubicBezTo>
                  <a:lnTo>
                    <a:pt x="195072" y="6096000"/>
                  </a:lnTo>
                  <a:cubicBezTo>
                    <a:pt x="87376" y="6096000"/>
                    <a:pt x="0" y="6008624"/>
                    <a:pt x="0" y="590092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73952" y="5303520"/>
            <a:ext cx="5340096" cy="1463040"/>
            <a:chOff x="0" y="0"/>
            <a:chExt cx="7120128" cy="1950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20128" cy="1950720"/>
            </a:xfrm>
            <a:custGeom>
              <a:avLst/>
              <a:gdLst/>
              <a:ahLst/>
              <a:cxnLst/>
              <a:rect r="r" b="b" t="t" l="l"/>
              <a:pathLst>
                <a:path h="195072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120" r="0" b="-2112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61925"/>
              <a:ext cx="7120128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0C7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473952" y="6729984"/>
            <a:ext cx="5340096" cy="1280160"/>
            <a:chOff x="0" y="0"/>
            <a:chExt cx="7120128" cy="1706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20128" cy="1706880"/>
            </a:xfrm>
            <a:custGeom>
              <a:avLst/>
              <a:gdLst/>
              <a:ahLst/>
              <a:cxnLst/>
              <a:rect r="r" b="b" t="t" l="l"/>
              <a:pathLst>
                <a:path h="170688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280" r="0" b="-3128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120128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étiquetées par des experts (50 normal / 50 cancer)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33504" y="4297680"/>
            <a:ext cx="5340096" cy="4572000"/>
            <a:chOff x="0" y="0"/>
            <a:chExt cx="7120128" cy="6096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20128" cy="6096000"/>
            </a:xfrm>
            <a:custGeom>
              <a:avLst/>
              <a:gdLst/>
              <a:ahLst/>
              <a:cxnLst/>
              <a:rect r="r" b="b" t="t" l="l"/>
              <a:pathLst>
                <a:path h="6096000" w="7120128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925056" y="0"/>
                  </a:lnTo>
                  <a:cubicBezTo>
                    <a:pt x="7032752" y="0"/>
                    <a:pt x="7120128" y="87376"/>
                    <a:pt x="7120128" y="195072"/>
                  </a:cubicBezTo>
                  <a:lnTo>
                    <a:pt x="7120128" y="5900928"/>
                  </a:lnTo>
                  <a:cubicBezTo>
                    <a:pt x="7120128" y="6008624"/>
                    <a:pt x="7032752" y="6096000"/>
                    <a:pt x="6925056" y="6096000"/>
                  </a:cubicBezTo>
                  <a:lnTo>
                    <a:pt x="195072" y="6096000"/>
                  </a:lnTo>
                  <a:cubicBezTo>
                    <a:pt x="87376" y="6096000"/>
                    <a:pt x="0" y="6008624"/>
                    <a:pt x="0" y="590092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033504" y="5303520"/>
            <a:ext cx="5340096" cy="1463040"/>
            <a:chOff x="0" y="0"/>
            <a:chExt cx="7120128" cy="1950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20128" cy="1950720"/>
            </a:xfrm>
            <a:custGeom>
              <a:avLst/>
              <a:gdLst/>
              <a:ahLst/>
              <a:cxnLst/>
              <a:rect r="r" b="b" t="t" l="l"/>
              <a:pathLst>
                <a:path h="195072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120" r="0" b="-2112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61925"/>
              <a:ext cx="7120128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E457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1 406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033504" y="6729984"/>
            <a:ext cx="5340096" cy="1280160"/>
            <a:chOff x="0" y="0"/>
            <a:chExt cx="7120128" cy="1706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20128" cy="1706880"/>
            </a:xfrm>
            <a:custGeom>
              <a:avLst/>
              <a:gdLst/>
              <a:ahLst/>
              <a:cxnLst/>
              <a:rect r="r" b="b" t="t" l="l"/>
              <a:pathLst>
                <a:path h="170688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280" r="0" b="-3128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7120128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sans aucune étiquette (≈ 93 % du jeu)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" y="9144000"/>
            <a:ext cx="16459200" cy="914400"/>
            <a:chOff x="0" y="0"/>
            <a:chExt cx="2194560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219456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5B71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Objectif : exploiter les images non étiquetées pour amplifier la valeur des quelques labels experts disponibles.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68096"/>
            <a:ext cx="1133856" cy="1133856"/>
            <a:chOff x="0" y="0"/>
            <a:chExt cx="1511808" cy="1511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0432" y="1024128"/>
            <a:ext cx="621792" cy="621792"/>
            <a:chOff x="0" y="0"/>
            <a:chExt cx="829056" cy="829056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40864" y="731520"/>
            <a:ext cx="14996160" cy="1207008"/>
            <a:chOff x="0" y="0"/>
            <a:chExt cx="19994880" cy="1609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086" r="0" b="-19208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9994880" cy="1714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Démarche en 4 étapes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3108960"/>
            <a:ext cx="3986784" cy="5212080"/>
            <a:chOff x="0" y="0"/>
            <a:chExt cx="5315712" cy="6949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15712" cy="6949440"/>
            </a:xfrm>
            <a:custGeom>
              <a:avLst/>
              <a:gdLst/>
              <a:ahLst/>
              <a:cxnLst/>
              <a:rect r="r" b="b" t="t" l="l"/>
              <a:pathLst>
                <a:path h="6949440" w="53157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120640" y="0"/>
                  </a:lnTo>
                  <a:cubicBezTo>
                    <a:pt x="5228336" y="0"/>
                    <a:pt x="5315712" y="87376"/>
                    <a:pt x="5315712" y="195072"/>
                  </a:cubicBezTo>
                  <a:lnTo>
                    <a:pt x="5315712" y="6754368"/>
                  </a:lnTo>
                  <a:cubicBezTo>
                    <a:pt x="5315712" y="6862064"/>
                    <a:pt x="5228336" y="6949440"/>
                    <a:pt x="5120640" y="6949440"/>
                  </a:cubicBezTo>
                  <a:lnTo>
                    <a:pt x="195072" y="6949440"/>
                  </a:lnTo>
                  <a:cubicBezTo>
                    <a:pt x="87376" y="6949440"/>
                    <a:pt x="0" y="6862064"/>
                    <a:pt x="0" y="675436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139696" y="3657600"/>
            <a:ext cx="1536192" cy="1536192"/>
            <a:chOff x="0" y="0"/>
            <a:chExt cx="2048256" cy="20482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8256" cy="2048256"/>
            </a:xfrm>
            <a:custGeom>
              <a:avLst/>
              <a:gdLst/>
              <a:ahLst/>
              <a:cxnLst/>
              <a:rect r="r" b="b" t="t" l="l"/>
              <a:pathLst>
                <a:path h="2048256" w="2048256">
                  <a:moveTo>
                    <a:pt x="0" y="1024128"/>
                  </a:moveTo>
                  <a:cubicBezTo>
                    <a:pt x="0" y="458470"/>
                    <a:pt x="458470" y="0"/>
                    <a:pt x="1024128" y="0"/>
                  </a:cubicBezTo>
                  <a:cubicBezTo>
                    <a:pt x="1589786" y="0"/>
                    <a:pt x="2048256" y="458470"/>
                    <a:pt x="2048256" y="1024128"/>
                  </a:cubicBezTo>
                  <a:cubicBezTo>
                    <a:pt x="2048256" y="1589786"/>
                    <a:pt x="1589786" y="2048256"/>
                    <a:pt x="1024128" y="2048256"/>
                  </a:cubicBezTo>
                  <a:cubicBezTo>
                    <a:pt x="458470" y="2048256"/>
                    <a:pt x="0" y="1589786"/>
                    <a:pt x="0" y="1024128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487168" y="4005072"/>
            <a:ext cx="841248" cy="841248"/>
            <a:chOff x="0" y="0"/>
            <a:chExt cx="1121664" cy="1121664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7280" y="5449824"/>
            <a:ext cx="3621024" cy="822960"/>
            <a:chOff x="0" y="0"/>
            <a:chExt cx="4828032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2803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4828032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Features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70432" y="6254496"/>
            <a:ext cx="3474720" cy="1828800"/>
            <a:chOff x="0" y="0"/>
            <a:chExt cx="4632960" cy="2438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329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63296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ResNet50 pré-entraîné (gelé) → 1 vecteur de 2048 dimensions par image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828032" y="4846320"/>
            <a:ext cx="548640" cy="914400"/>
            <a:chOff x="0" y="0"/>
            <a:chExt cx="73152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7315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C7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303520" y="3108960"/>
            <a:ext cx="3986784" cy="5212080"/>
            <a:chOff x="0" y="0"/>
            <a:chExt cx="5315712" cy="6949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15712" cy="6949440"/>
            </a:xfrm>
            <a:custGeom>
              <a:avLst/>
              <a:gdLst/>
              <a:ahLst/>
              <a:cxnLst/>
              <a:rect r="r" b="b" t="t" l="l"/>
              <a:pathLst>
                <a:path h="6949440" w="53157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120640" y="0"/>
                  </a:lnTo>
                  <a:cubicBezTo>
                    <a:pt x="5228336" y="0"/>
                    <a:pt x="5315712" y="87376"/>
                    <a:pt x="5315712" y="195072"/>
                  </a:cubicBezTo>
                  <a:lnTo>
                    <a:pt x="5315712" y="6754368"/>
                  </a:lnTo>
                  <a:cubicBezTo>
                    <a:pt x="5315712" y="6862064"/>
                    <a:pt x="5228336" y="6949440"/>
                    <a:pt x="5120640" y="6949440"/>
                  </a:cubicBezTo>
                  <a:lnTo>
                    <a:pt x="195072" y="6949440"/>
                  </a:lnTo>
                  <a:cubicBezTo>
                    <a:pt x="87376" y="6949440"/>
                    <a:pt x="0" y="6862064"/>
                    <a:pt x="0" y="675436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528816" y="3657600"/>
            <a:ext cx="1536192" cy="1536192"/>
            <a:chOff x="0" y="0"/>
            <a:chExt cx="2048256" cy="20482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48256" cy="2048256"/>
            </a:xfrm>
            <a:custGeom>
              <a:avLst/>
              <a:gdLst/>
              <a:ahLst/>
              <a:cxnLst/>
              <a:rect r="r" b="b" t="t" l="l"/>
              <a:pathLst>
                <a:path h="2048256" w="2048256">
                  <a:moveTo>
                    <a:pt x="0" y="1024128"/>
                  </a:moveTo>
                  <a:cubicBezTo>
                    <a:pt x="0" y="458470"/>
                    <a:pt x="458470" y="0"/>
                    <a:pt x="1024128" y="0"/>
                  </a:cubicBezTo>
                  <a:cubicBezTo>
                    <a:pt x="1589786" y="0"/>
                    <a:pt x="2048256" y="458470"/>
                    <a:pt x="2048256" y="1024128"/>
                  </a:cubicBezTo>
                  <a:cubicBezTo>
                    <a:pt x="2048256" y="1589786"/>
                    <a:pt x="1589786" y="2048256"/>
                    <a:pt x="1024128" y="2048256"/>
                  </a:cubicBezTo>
                  <a:cubicBezTo>
                    <a:pt x="458470" y="2048256"/>
                    <a:pt x="0" y="1589786"/>
                    <a:pt x="0" y="1024128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876288" y="4005072"/>
            <a:ext cx="841248" cy="841248"/>
            <a:chOff x="0" y="0"/>
            <a:chExt cx="1121664" cy="1121664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486400" y="5449824"/>
            <a:ext cx="3621024" cy="822960"/>
            <a:chOff x="0" y="0"/>
            <a:chExt cx="4828032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2803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4828032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Clustering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559552" y="6254496"/>
            <a:ext cx="3474720" cy="1828800"/>
            <a:chOff x="0" y="0"/>
            <a:chExt cx="4632960" cy="2438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329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463296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PCA + K-Means (k=2) pour regrouper les images par similarité visuelle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217152" y="4846320"/>
            <a:ext cx="548640" cy="914400"/>
            <a:chOff x="0" y="0"/>
            <a:chExt cx="73152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7315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C7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92640" y="3108960"/>
            <a:ext cx="3986784" cy="5212080"/>
            <a:chOff x="0" y="0"/>
            <a:chExt cx="5315712" cy="6949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15712" cy="6949440"/>
            </a:xfrm>
            <a:custGeom>
              <a:avLst/>
              <a:gdLst/>
              <a:ahLst/>
              <a:cxnLst/>
              <a:rect r="r" b="b" t="t" l="l"/>
              <a:pathLst>
                <a:path h="6949440" w="53157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120640" y="0"/>
                  </a:lnTo>
                  <a:cubicBezTo>
                    <a:pt x="5228336" y="0"/>
                    <a:pt x="5315712" y="87376"/>
                    <a:pt x="5315712" y="195072"/>
                  </a:cubicBezTo>
                  <a:lnTo>
                    <a:pt x="5315712" y="6754368"/>
                  </a:lnTo>
                  <a:cubicBezTo>
                    <a:pt x="5315712" y="6862064"/>
                    <a:pt x="5228336" y="6949440"/>
                    <a:pt x="5120640" y="6949440"/>
                  </a:cubicBezTo>
                  <a:lnTo>
                    <a:pt x="195072" y="6949440"/>
                  </a:lnTo>
                  <a:cubicBezTo>
                    <a:pt x="87376" y="6949440"/>
                    <a:pt x="0" y="6862064"/>
                    <a:pt x="0" y="675436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917936" y="3657600"/>
            <a:ext cx="1536192" cy="1536192"/>
            <a:chOff x="0" y="0"/>
            <a:chExt cx="2048256" cy="20482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48256" cy="2048256"/>
            </a:xfrm>
            <a:custGeom>
              <a:avLst/>
              <a:gdLst/>
              <a:ahLst/>
              <a:cxnLst/>
              <a:rect r="r" b="b" t="t" l="l"/>
              <a:pathLst>
                <a:path h="2048256" w="2048256">
                  <a:moveTo>
                    <a:pt x="0" y="1024128"/>
                  </a:moveTo>
                  <a:cubicBezTo>
                    <a:pt x="0" y="458470"/>
                    <a:pt x="458470" y="0"/>
                    <a:pt x="1024128" y="0"/>
                  </a:cubicBezTo>
                  <a:cubicBezTo>
                    <a:pt x="1589786" y="0"/>
                    <a:pt x="2048256" y="458470"/>
                    <a:pt x="2048256" y="1024128"/>
                  </a:cubicBezTo>
                  <a:cubicBezTo>
                    <a:pt x="2048256" y="1589786"/>
                    <a:pt x="1589786" y="2048256"/>
                    <a:pt x="1024128" y="2048256"/>
                  </a:cubicBezTo>
                  <a:cubicBezTo>
                    <a:pt x="458470" y="2048256"/>
                    <a:pt x="0" y="1589786"/>
                    <a:pt x="0" y="1024128"/>
                  </a:cubicBezTo>
                  <a:close/>
                </a:path>
              </a:pathLst>
            </a:custGeom>
            <a:solidFill>
              <a:srgbClr val="E4572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265408" y="4005072"/>
            <a:ext cx="841248" cy="841248"/>
            <a:chOff x="0" y="0"/>
            <a:chExt cx="1121664" cy="1121664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875520" y="5449824"/>
            <a:ext cx="3621024" cy="822960"/>
            <a:chOff x="0" y="0"/>
            <a:chExt cx="4828032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2803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4828032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Labels faibles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948672" y="6254496"/>
            <a:ext cx="3474720" cy="1828800"/>
            <a:chOff x="0" y="0"/>
            <a:chExt cx="4632960" cy="2438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329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463296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 cluster sert de pseudo-étiquette pour les images non labellisées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606272" y="4846320"/>
            <a:ext cx="548640" cy="914400"/>
            <a:chOff x="0" y="0"/>
            <a:chExt cx="73152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76200"/>
              <a:ext cx="7315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C7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081760" y="3108960"/>
            <a:ext cx="3986784" cy="5212080"/>
            <a:chOff x="0" y="0"/>
            <a:chExt cx="5315712" cy="6949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15712" cy="6949440"/>
            </a:xfrm>
            <a:custGeom>
              <a:avLst/>
              <a:gdLst/>
              <a:ahLst/>
              <a:cxnLst/>
              <a:rect r="r" b="b" t="t" l="l"/>
              <a:pathLst>
                <a:path h="6949440" w="53157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120640" y="0"/>
                  </a:lnTo>
                  <a:cubicBezTo>
                    <a:pt x="5228336" y="0"/>
                    <a:pt x="5315712" y="87376"/>
                    <a:pt x="5315712" y="195072"/>
                  </a:cubicBezTo>
                  <a:lnTo>
                    <a:pt x="5315712" y="6754368"/>
                  </a:lnTo>
                  <a:cubicBezTo>
                    <a:pt x="5315712" y="6862064"/>
                    <a:pt x="5228336" y="6949440"/>
                    <a:pt x="5120640" y="6949440"/>
                  </a:cubicBezTo>
                  <a:lnTo>
                    <a:pt x="195072" y="6949440"/>
                  </a:lnTo>
                  <a:cubicBezTo>
                    <a:pt x="87376" y="6949440"/>
                    <a:pt x="0" y="6862064"/>
                    <a:pt x="0" y="675436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5307056" y="3657600"/>
            <a:ext cx="1536192" cy="1536192"/>
            <a:chOff x="0" y="0"/>
            <a:chExt cx="2048256" cy="20482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48256" cy="2048256"/>
            </a:xfrm>
            <a:custGeom>
              <a:avLst/>
              <a:gdLst/>
              <a:ahLst/>
              <a:cxnLst/>
              <a:rect r="r" b="b" t="t" l="l"/>
              <a:pathLst>
                <a:path h="2048256" w="2048256">
                  <a:moveTo>
                    <a:pt x="0" y="1024128"/>
                  </a:moveTo>
                  <a:cubicBezTo>
                    <a:pt x="0" y="458470"/>
                    <a:pt x="458470" y="0"/>
                    <a:pt x="1024128" y="0"/>
                  </a:cubicBezTo>
                  <a:cubicBezTo>
                    <a:pt x="1589786" y="0"/>
                    <a:pt x="2048256" y="458470"/>
                    <a:pt x="2048256" y="1024128"/>
                  </a:cubicBezTo>
                  <a:cubicBezTo>
                    <a:pt x="2048256" y="1589786"/>
                    <a:pt x="1589786" y="2048256"/>
                    <a:pt x="1024128" y="2048256"/>
                  </a:cubicBezTo>
                  <a:cubicBezTo>
                    <a:pt x="458470" y="2048256"/>
                    <a:pt x="0" y="1589786"/>
                    <a:pt x="0" y="1024128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5654528" y="4005072"/>
            <a:ext cx="841248" cy="841248"/>
            <a:chOff x="0" y="0"/>
            <a:chExt cx="1121664" cy="1121664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264640" y="5449824"/>
            <a:ext cx="3621024" cy="822960"/>
            <a:chOff x="0" y="0"/>
            <a:chExt cx="4828032" cy="10972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2803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66675"/>
              <a:ext cx="4828032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Semi-supervisé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337792" y="6254496"/>
            <a:ext cx="3474720" cy="1828800"/>
            <a:chOff x="0" y="0"/>
            <a:chExt cx="4632960" cy="2438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6329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463296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Comparaison CNN supervisé / semi et label propagation sur les features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14400" y="8869680"/>
            <a:ext cx="16459200" cy="1097280"/>
            <a:chOff x="0" y="0"/>
            <a:chExt cx="21945600" cy="14630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19456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5B71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Les deux jeux, « faiblement » et « fortement » labellisésrestent strictement séparés : les vrais labels ne servent qu'à évaluer, jamais à contaminer l'entraînement faible.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68096"/>
            <a:ext cx="1133856" cy="1133856"/>
            <a:chOff x="0" y="0"/>
            <a:chExt cx="1511808" cy="1511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0432" y="1024128"/>
            <a:ext cx="621792" cy="621792"/>
            <a:chOff x="0" y="0"/>
            <a:chExt cx="829056" cy="829056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40864" y="731520"/>
            <a:ext cx="14996160" cy="1207008"/>
            <a:chOff x="0" y="0"/>
            <a:chExt cx="19994880" cy="1609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086" r="0" b="-19208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9994880" cy="1714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Étapes 1–2 : préparation &amp; extraction de features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468880"/>
            <a:ext cx="8046720" cy="6766560"/>
            <a:chOff x="0" y="0"/>
            <a:chExt cx="10728960" cy="9022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28960" cy="9022080"/>
            </a:xfrm>
            <a:custGeom>
              <a:avLst/>
              <a:gdLst/>
              <a:ahLst/>
              <a:cxnLst/>
              <a:rect r="r" b="b" t="t" l="l"/>
              <a:pathLst>
                <a:path h="9022080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8827008"/>
                  </a:lnTo>
                  <a:cubicBezTo>
                    <a:pt x="10728960" y="8934703"/>
                    <a:pt x="10641584" y="9022080"/>
                    <a:pt x="10533888" y="9022080"/>
                  </a:cubicBezTo>
                  <a:lnTo>
                    <a:pt x="195072" y="9022080"/>
                  </a:lnTo>
                  <a:cubicBezTo>
                    <a:pt x="87376" y="9022080"/>
                    <a:pt x="0" y="8934704"/>
                    <a:pt x="0" y="882700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1600" y="2834640"/>
            <a:ext cx="7132320" cy="731520"/>
            <a:chOff x="0" y="0"/>
            <a:chExt cx="950976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09760" cy="975360"/>
            </a:xfrm>
            <a:custGeom>
              <a:avLst/>
              <a:gdLst/>
              <a:ahLst/>
              <a:cxnLst/>
              <a:rect r="r" b="b" t="t" l="l"/>
              <a:pathLst>
                <a:path h="9753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50976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C7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Préparation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1600" y="3749040"/>
            <a:ext cx="7223760" cy="5120640"/>
            <a:chOff x="0" y="0"/>
            <a:chExt cx="9631680" cy="6827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31680" cy="6827520"/>
            </a:xfrm>
            <a:custGeom>
              <a:avLst/>
              <a:gdLst/>
              <a:ahLst/>
              <a:cxnLst/>
              <a:rect r="r" b="b" t="t" l="l"/>
              <a:pathLst>
                <a:path h="682752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949" t="0" r="-4094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631680" cy="6884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E2D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Images 512×512, en réalité niveaux de gris (R=G=B)</a:t>
              </a:r>
            </a:p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E2D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Égalisation d'histogramme locale (CLAHE) pour rehausser le contraste</a:t>
              </a:r>
            </a:p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E2D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Redimensionnement 224 + normalisation ImageNet</a:t>
              </a:r>
            </a:p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E2D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Classes parfaitement équilibrées (50 / 50)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26880" y="2468880"/>
            <a:ext cx="8046720" cy="6766560"/>
            <a:chOff x="0" y="0"/>
            <a:chExt cx="10728960" cy="9022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8960" cy="9022080"/>
            </a:xfrm>
            <a:custGeom>
              <a:avLst/>
              <a:gdLst/>
              <a:ahLst/>
              <a:cxnLst/>
              <a:rect r="r" b="b" t="t" l="l"/>
              <a:pathLst>
                <a:path h="9022080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8827008"/>
                  </a:lnTo>
                  <a:cubicBezTo>
                    <a:pt x="10728960" y="8934703"/>
                    <a:pt x="10641584" y="9022080"/>
                    <a:pt x="10533888" y="9022080"/>
                  </a:cubicBezTo>
                  <a:lnTo>
                    <a:pt x="195072" y="9022080"/>
                  </a:lnTo>
                  <a:cubicBezTo>
                    <a:pt x="87376" y="9022080"/>
                    <a:pt x="0" y="8934704"/>
                    <a:pt x="0" y="882700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784080" y="2834640"/>
            <a:ext cx="7315200" cy="731520"/>
            <a:chOff x="0" y="0"/>
            <a:chExt cx="975360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753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C7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Extraction (ResNet50 gelé)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200" y="3931920"/>
            <a:ext cx="3749040" cy="1463040"/>
            <a:chOff x="0" y="0"/>
            <a:chExt cx="4998720" cy="1950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98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9" t="0" r="-6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61925"/>
              <a:ext cx="4998720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0C7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01200" y="5358384"/>
            <a:ext cx="3749040" cy="1280160"/>
            <a:chOff x="0" y="0"/>
            <a:chExt cx="4998720" cy="1706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987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63" r="0" b="-706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99872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paramètre entraînable (réseau gelé)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41680" y="3931920"/>
            <a:ext cx="3749040" cy="1463040"/>
            <a:chOff x="0" y="0"/>
            <a:chExt cx="4998720" cy="1950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98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9" t="0" r="-6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61925"/>
              <a:ext cx="4998720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0C7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2048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441680" y="5358384"/>
            <a:ext cx="3749040" cy="1280160"/>
            <a:chOff x="0" y="0"/>
            <a:chExt cx="4998720" cy="1706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987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63" r="0" b="-706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99872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dimensions par image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01200" y="6492240"/>
            <a:ext cx="3749040" cy="1463040"/>
            <a:chOff x="0" y="0"/>
            <a:chExt cx="4998720" cy="1950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98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9" t="0" r="-6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61925"/>
              <a:ext cx="4998720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12B5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46 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01200" y="7918704"/>
            <a:ext cx="3749040" cy="1280160"/>
            <a:chOff x="0" y="0"/>
            <a:chExt cx="4998720" cy="1706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987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63" r="0" b="-706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499872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extraction des 1506 (CPU)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441680" y="6492240"/>
            <a:ext cx="3749040" cy="1463040"/>
            <a:chOff x="0" y="0"/>
            <a:chExt cx="4998720" cy="1950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998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9" t="0" r="-6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61925"/>
              <a:ext cx="4998720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12B5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fois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441680" y="7918704"/>
            <a:ext cx="3749040" cy="1280160"/>
            <a:chOff x="0" y="0"/>
            <a:chExt cx="4998720" cy="17068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987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63" r="0" b="-706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499872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calculé puis sauvegardé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68096"/>
            <a:ext cx="1133856" cy="1133856"/>
            <a:chOff x="0" y="0"/>
            <a:chExt cx="1511808" cy="1511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0432" y="1024128"/>
            <a:ext cx="621792" cy="621792"/>
            <a:chOff x="0" y="0"/>
            <a:chExt cx="829056" cy="829056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40864" y="731520"/>
            <a:ext cx="14996160" cy="1207008"/>
            <a:chOff x="0" y="0"/>
            <a:chExt cx="19994880" cy="1609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086" r="0" b="-19208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9994880" cy="1714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Étape 3 : clustering &amp; labels faibles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560320"/>
            <a:ext cx="5340096" cy="3566160"/>
            <a:chOff x="0" y="0"/>
            <a:chExt cx="7120128" cy="4754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20128" cy="4754880"/>
            </a:xfrm>
            <a:custGeom>
              <a:avLst/>
              <a:gdLst/>
              <a:ahLst/>
              <a:cxnLst/>
              <a:rect r="r" b="b" t="t" l="l"/>
              <a:pathLst>
                <a:path h="4754880" w="7120128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925056" y="0"/>
                  </a:lnTo>
                  <a:cubicBezTo>
                    <a:pt x="7032752" y="0"/>
                    <a:pt x="7120128" y="87376"/>
                    <a:pt x="7120128" y="195072"/>
                  </a:cubicBezTo>
                  <a:lnTo>
                    <a:pt x="7120128" y="4559808"/>
                  </a:lnTo>
                  <a:cubicBezTo>
                    <a:pt x="7120128" y="4667504"/>
                    <a:pt x="7032752" y="4754880"/>
                    <a:pt x="6925056" y="4754880"/>
                  </a:cubicBezTo>
                  <a:lnTo>
                    <a:pt x="195072" y="4754880"/>
                  </a:lnTo>
                  <a:cubicBezTo>
                    <a:pt x="87376" y="4754880"/>
                    <a:pt x="0" y="4667504"/>
                    <a:pt x="0" y="455980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3108960"/>
            <a:ext cx="5340096" cy="1463040"/>
            <a:chOff x="0" y="0"/>
            <a:chExt cx="7120128" cy="1950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20128" cy="1950720"/>
            </a:xfrm>
            <a:custGeom>
              <a:avLst/>
              <a:gdLst/>
              <a:ahLst/>
              <a:cxnLst/>
              <a:rect r="r" b="b" t="t" l="l"/>
              <a:pathLst>
                <a:path h="195072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120" r="0" b="-2112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61925"/>
              <a:ext cx="7120128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0C7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0,224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4535424"/>
            <a:ext cx="5340096" cy="1280160"/>
            <a:chOff x="0" y="0"/>
            <a:chExt cx="7120128" cy="1706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20128" cy="1706880"/>
            </a:xfrm>
            <a:custGeom>
              <a:avLst/>
              <a:gdLst/>
              <a:ahLst/>
              <a:cxnLst/>
              <a:rect r="r" b="b" t="t" l="l"/>
              <a:pathLst>
                <a:path h="170688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280" r="0" b="-312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120128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 ARI doublé par l'égalisation (vs 0,12)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73952" y="2560320"/>
            <a:ext cx="5340096" cy="3566160"/>
            <a:chOff x="0" y="0"/>
            <a:chExt cx="7120128" cy="4754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20128" cy="4754880"/>
            </a:xfrm>
            <a:custGeom>
              <a:avLst/>
              <a:gdLst/>
              <a:ahLst/>
              <a:cxnLst/>
              <a:rect r="r" b="b" t="t" l="l"/>
              <a:pathLst>
                <a:path h="4754880" w="7120128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925056" y="0"/>
                  </a:lnTo>
                  <a:cubicBezTo>
                    <a:pt x="7032752" y="0"/>
                    <a:pt x="7120128" y="87376"/>
                    <a:pt x="7120128" y="195072"/>
                  </a:cubicBezTo>
                  <a:lnTo>
                    <a:pt x="7120128" y="4559808"/>
                  </a:lnTo>
                  <a:cubicBezTo>
                    <a:pt x="7120128" y="4667504"/>
                    <a:pt x="7032752" y="4754880"/>
                    <a:pt x="6925056" y="4754880"/>
                  </a:cubicBezTo>
                  <a:lnTo>
                    <a:pt x="195072" y="4754880"/>
                  </a:lnTo>
                  <a:cubicBezTo>
                    <a:pt x="87376" y="4754880"/>
                    <a:pt x="0" y="4667504"/>
                    <a:pt x="0" y="455980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73952" y="3108960"/>
            <a:ext cx="5340096" cy="1463040"/>
            <a:chOff x="0" y="0"/>
            <a:chExt cx="7120128" cy="1950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20128" cy="1950720"/>
            </a:xfrm>
            <a:custGeom>
              <a:avLst/>
              <a:gdLst/>
              <a:ahLst/>
              <a:cxnLst/>
              <a:rect r="r" b="b" t="t" l="l"/>
              <a:pathLst>
                <a:path h="195072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120" r="0" b="-2112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61925"/>
              <a:ext cx="7120128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12B5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93 %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73952" y="4535424"/>
            <a:ext cx="5340096" cy="1280160"/>
            <a:chOff x="0" y="0"/>
            <a:chExt cx="7120128" cy="1706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20128" cy="1706880"/>
            </a:xfrm>
            <a:custGeom>
              <a:avLst/>
              <a:gdLst/>
              <a:ahLst/>
              <a:cxnLst/>
              <a:rect r="r" b="b" t="t" l="l"/>
              <a:pathLst>
                <a:path h="170688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280" r="0" b="-3128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120128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pureté du cluster « cancer » (26/28)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33504" y="2560320"/>
            <a:ext cx="5340096" cy="3566160"/>
            <a:chOff x="0" y="0"/>
            <a:chExt cx="7120128" cy="4754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20128" cy="4754880"/>
            </a:xfrm>
            <a:custGeom>
              <a:avLst/>
              <a:gdLst/>
              <a:ahLst/>
              <a:cxnLst/>
              <a:rect r="r" b="b" t="t" l="l"/>
              <a:pathLst>
                <a:path h="4754880" w="7120128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925056" y="0"/>
                  </a:lnTo>
                  <a:cubicBezTo>
                    <a:pt x="7032752" y="0"/>
                    <a:pt x="7120128" y="87376"/>
                    <a:pt x="7120128" y="195072"/>
                  </a:cubicBezTo>
                  <a:lnTo>
                    <a:pt x="7120128" y="4559808"/>
                  </a:lnTo>
                  <a:cubicBezTo>
                    <a:pt x="7120128" y="4667504"/>
                    <a:pt x="7032752" y="4754880"/>
                    <a:pt x="6925056" y="4754880"/>
                  </a:cubicBezTo>
                  <a:lnTo>
                    <a:pt x="195072" y="4754880"/>
                  </a:lnTo>
                  <a:cubicBezTo>
                    <a:pt x="87376" y="4754880"/>
                    <a:pt x="0" y="4667504"/>
                    <a:pt x="0" y="455980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033504" y="3108960"/>
            <a:ext cx="5340096" cy="1463040"/>
            <a:chOff x="0" y="0"/>
            <a:chExt cx="7120128" cy="1950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20128" cy="1950720"/>
            </a:xfrm>
            <a:custGeom>
              <a:avLst/>
              <a:gdLst/>
              <a:ahLst/>
              <a:cxnLst/>
              <a:rect r="r" b="b" t="t" l="l"/>
              <a:pathLst>
                <a:path h="195072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120" r="0" b="-211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61925"/>
              <a:ext cx="7120128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E457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52 %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033504" y="4535424"/>
            <a:ext cx="5340096" cy="1280160"/>
            <a:chOff x="0" y="0"/>
            <a:chExt cx="7120128" cy="17068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20128" cy="1706880"/>
            </a:xfrm>
            <a:custGeom>
              <a:avLst/>
              <a:gdLst/>
              <a:ahLst/>
              <a:cxnLst/>
              <a:rect r="r" b="b" t="t" l="l"/>
              <a:pathLst>
                <a:path h="170688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280" r="0" b="-3128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120128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rappel cancer du clustering (26/50)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6583680"/>
            <a:ext cx="16459200" cy="2834640"/>
            <a:chOff x="0" y="0"/>
            <a:chExt cx="21945600" cy="3779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219456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750528" y="0"/>
                  </a:lnTo>
                  <a:cubicBezTo>
                    <a:pt x="21858224" y="0"/>
                    <a:pt x="21945600" y="87376"/>
                    <a:pt x="21945600" y="195072"/>
                  </a:cubicBezTo>
                  <a:lnTo>
                    <a:pt x="21945600" y="3584448"/>
                  </a:lnTo>
                  <a:cubicBezTo>
                    <a:pt x="21945600" y="3692144"/>
                    <a:pt x="21858224" y="3779520"/>
                    <a:pt x="21750528" y="3779520"/>
                  </a:cubicBezTo>
                  <a:lnTo>
                    <a:pt x="195072" y="3779520"/>
                  </a:lnTo>
                  <a:cubicBezTo>
                    <a:pt x="87376" y="3779520"/>
                    <a:pt x="0" y="3692144"/>
                    <a:pt x="0" y="358444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71600" y="6803136"/>
            <a:ext cx="7315200" cy="640080"/>
            <a:chOff x="0" y="0"/>
            <a:chExt cx="97536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753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C7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Lecture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1600" y="7406640"/>
            <a:ext cx="15636240" cy="1828800"/>
            <a:chOff x="0" y="0"/>
            <a:chExt cx="20848320" cy="2438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84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597" r="0" b="-11659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084832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D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L'égalisation d'histogramme (CLAHE) rehausse le contraste local des IRM : l'ARI double (0,12 → 0,22) et le cluster « cancer » capte plus de tumeurs (26/50 contre 20/50 sans égalisation). Le signal s'améliore nettement, mais le clustering seul reste insuffisant, d'où le recours à une vraie méthode semi-supervisée à l'étape suivante.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68096"/>
            <a:ext cx="1133856" cy="1133856"/>
            <a:chOff x="0" y="0"/>
            <a:chExt cx="1511808" cy="1511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0432" y="1024128"/>
            <a:ext cx="621792" cy="621792"/>
            <a:chOff x="0" y="0"/>
            <a:chExt cx="829056" cy="829056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40864" y="731520"/>
            <a:ext cx="14996160" cy="1207008"/>
            <a:chOff x="0" y="0"/>
            <a:chExt cx="19994880" cy="1609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086" r="0" b="-19208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9994880" cy="1714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Comparaison des trois approches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157984"/>
            <a:ext cx="16459200" cy="731520"/>
            <a:chOff x="0" y="0"/>
            <a:chExt cx="2194560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5B71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Moyenne sur 5 exécutions — test de 30 IRM jamais vues (cancer = classe positive)</a:t>
              </a: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38328" y="1947672"/>
            <a:ext cx="12838176" cy="8357616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11795760" y="3017520"/>
            <a:ext cx="5577840" cy="6217920"/>
            <a:chOff x="0" y="0"/>
            <a:chExt cx="7437120" cy="8290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37120" cy="8290560"/>
            </a:xfrm>
            <a:custGeom>
              <a:avLst/>
              <a:gdLst/>
              <a:ahLst/>
              <a:cxnLst/>
              <a:rect r="r" b="b" t="t" l="l"/>
              <a:pathLst>
                <a:path h="8290560" w="74371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7242048" y="0"/>
                  </a:lnTo>
                  <a:cubicBezTo>
                    <a:pt x="7349744" y="0"/>
                    <a:pt x="7437120" y="87376"/>
                    <a:pt x="7437120" y="195072"/>
                  </a:cubicBezTo>
                  <a:lnTo>
                    <a:pt x="7437120" y="8095488"/>
                  </a:lnTo>
                  <a:cubicBezTo>
                    <a:pt x="7437120" y="8203184"/>
                    <a:pt x="7349744" y="8290560"/>
                    <a:pt x="7242048" y="8290560"/>
                  </a:cubicBezTo>
                  <a:lnTo>
                    <a:pt x="195072" y="8290560"/>
                  </a:lnTo>
                  <a:cubicBezTo>
                    <a:pt x="87376" y="8290560"/>
                    <a:pt x="0" y="8203184"/>
                    <a:pt x="0" y="809548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252960" y="3291840"/>
            <a:ext cx="4754880" cy="640080"/>
            <a:chOff x="0" y="0"/>
            <a:chExt cx="633984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39840" cy="853440"/>
            </a:xfrm>
            <a:custGeom>
              <a:avLst/>
              <a:gdLst/>
              <a:ahLst/>
              <a:cxnLst/>
              <a:rect r="r" b="b" t="t" l="l"/>
              <a:pathLst>
                <a:path h="8534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33984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2B5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Verdict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52960" y="4023360"/>
            <a:ext cx="4754880" cy="4937760"/>
            <a:chOff x="0" y="0"/>
            <a:chExt cx="6339840" cy="6583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3984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238" t="0" r="-83238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339840" cy="6631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 label propagation gagne sur les trois métriques.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 5 découpages : rappel 0,87 · F1 0,90 · AUC 0,975. Loin devant les CNN appris de zéro.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68096"/>
            <a:ext cx="1133856" cy="1133856"/>
            <a:chOff x="0" y="0"/>
            <a:chExt cx="1511808" cy="1511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0432" y="1024128"/>
            <a:ext cx="621792" cy="621792"/>
            <a:chOff x="0" y="0"/>
            <a:chExt cx="829056" cy="829056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40864" y="731520"/>
            <a:ext cx="14996160" cy="1207008"/>
            <a:chOff x="0" y="0"/>
            <a:chExt cx="19994880" cy="1609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086" r="0" b="-19208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9994880" cy="1714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Robustesse &amp; validation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651760"/>
            <a:ext cx="8046720" cy="2962656"/>
            <a:chOff x="0" y="0"/>
            <a:chExt cx="10728960" cy="39502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28960" cy="3950208"/>
            </a:xfrm>
            <a:custGeom>
              <a:avLst/>
              <a:gdLst/>
              <a:ahLst/>
              <a:cxnLst/>
              <a:rect r="r" b="b" t="t" l="l"/>
              <a:pathLst>
                <a:path h="3950208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3755136"/>
                  </a:lnTo>
                  <a:cubicBezTo>
                    <a:pt x="10728960" y="3862832"/>
                    <a:pt x="10641584" y="3950208"/>
                    <a:pt x="10533888" y="3950208"/>
                  </a:cubicBezTo>
                  <a:lnTo>
                    <a:pt x="195072" y="3950208"/>
                  </a:lnTo>
                  <a:cubicBezTo>
                    <a:pt x="87376" y="3950208"/>
                    <a:pt x="0" y="3862832"/>
                    <a:pt x="0" y="3755136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6736" y="3108960"/>
            <a:ext cx="1024128" cy="1024128"/>
            <a:chOff x="0" y="0"/>
            <a:chExt cx="1365504" cy="13655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682752"/>
                  </a:moveTo>
                  <a:cubicBezTo>
                    <a:pt x="0" y="305689"/>
                    <a:pt x="305689" y="0"/>
                    <a:pt x="682752" y="0"/>
                  </a:cubicBezTo>
                  <a:cubicBezTo>
                    <a:pt x="1059815" y="0"/>
                    <a:pt x="1365504" y="305689"/>
                    <a:pt x="1365504" y="682752"/>
                  </a:cubicBezTo>
                  <a:cubicBezTo>
                    <a:pt x="1365504" y="1059815"/>
                    <a:pt x="1059815" y="1365504"/>
                    <a:pt x="682752" y="1365504"/>
                  </a:cubicBezTo>
                  <a:cubicBezTo>
                    <a:pt x="305689" y="1365504"/>
                    <a:pt x="0" y="1059815"/>
                    <a:pt x="0" y="682752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54480" y="3346704"/>
            <a:ext cx="548640" cy="548640"/>
            <a:chOff x="0" y="0"/>
            <a:chExt cx="731520" cy="73152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651760" y="2980944"/>
            <a:ext cx="6035040" cy="914400"/>
            <a:chOff x="0" y="0"/>
            <a:chExt cx="804672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46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0467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sans fuite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51760" y="3785616"/>
            <a:ext cx="5943600" cy="1682496"/>
            <a:chOff x="0" y="0"/>
            <a:chExt cx="7924800" cy="2243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248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833" r="0" b="-1883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924800" cy="2290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Évaluation sur 30 IRM jamais vues ; séparation test / entraînement vérifiée (0 chevauchement).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26880" y="2651760"/>
            <a:ext cx="8046720" cy="2962656"/>
            <a:chOff x="0" y="0"/>
            <a:chExt cx="10728960" cy="39502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28960" cy="3950208"/>
            </a:xfrm>
            <a:custGeom>
              <a:avLst/>
              <a:gdLst/>
              <a:ahLst/>
              <a:cxnLst/>
              <a:rect r="r" b="b" t="t" l="l"/>
              <a:pathLst>
                <a:path h="3950208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3755136"/>
                  </a:lnTo>
                  <a:cubicBezTo>
                    <a:pt x="10728960" y="3862832"/>
                    <a:pt x="10641584" y="3950208"/>
                    <a:pt x="10533888" y="3950208"/>
                  </a:cubicBezTo>
                  <a:lnTo>
                    <a:pt x="195072" y="3950208"/>
                  </a:lnTo>
                  <a:cubicBezTo>
                    <a:pt x="87376" y="3950208"/>
                    <a:pt x="0" y="3862832"/>
                    <a:pt x="0" y="3755136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729216" y="3108960"/>
            <a:ext cx="1024128" cy="1024128"/>
            <a:chOff x="0" y="0"/>
            <a:chExt cx="1365504" cy="13655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682752"/>
                  </a:moveTo>
                  <a:cubicBezTo>
                    <a:pt x="0" y="305689"/>
                    <a:pt x="305689" y="0"/>
                    <a:pt x="682752" y="0"/>
                  </a:cubicBezTo>
                  <a:cubicBezTo>
                    <a:pt x="1059815" y="0"/>
                    <a:pt x="1365504" y="305689"/>
                    <a:pt x="1365504" y="682752"/>
                  </a:cubicBezTo>
                  <a:cubicBezTo>
                    <a:pt x="1365504" y="1059815"/>
                    <a:pt x="1059815" y="1365504"/>
                    <a:pt x="682752" y="1365504"/>
                  </a:cubicBezTo>
                  <a:cubicBezTo>
                    <a:pt x="305689" y="1365504"/>
                    <a:pt x="0" y="1059815"/>
                    <a:pt x="0" y="682752"/>
                  </a:cubicBezTo>
                  <a:close/>
                </a:path>
              </a:pathLst>
            </a:custGeom>
            <a:solidFill>
              <a:srgbClr val="12B5A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966960" y="3346704"/>
            <a:ext cx="548640" cy="548640"/>
            <a:chOff x="0" y="0"/>
            <a:chExt cx="731520" cy="73152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064240" y="2980944"/>
            <a:ext cx="6035040" cy="914400"/>
            <a:chOff x="0" y="0"/>
            <a:chExt cx="804672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46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80467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AUC 0,975 ± 0,016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064240" y="3785616"/>
            <a:ext cx="5943600" cy="1682496"/>
            <a:chOff x="0" y="0"/>
            <a:chExt cx="7924800" cy="22433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9248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833" r="0" b="-1883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924800" cy="2290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 5 découpages indépendants, performance stable, pas un coup de chance.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5852160"/>
            <a:ext cx="8046720" cy="2962656"/>
            <a:chOff x="0" y="0"/>
            <a:chExt cx="10728960" cy="39502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28960" cy="3950208"/>
            </a:xfrm>
            <a:custGeom>
              <a:avLst/>
              <a:gdLst/>
              <a:ahLst/>
              <a:cxnLst/>
              <a:rect r="r" b="b" t="t" l="l"/>
              <a:pathLst>
                <a:path h="3950208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3755136"/>
                  </a:lnTo>
                  <a:cubicBezTo>
                    <a:pt x="10728960" y="3862832"/>
                    <a:pt x="10641584" y="3950208"/>
                    <a:pt x="10533888" y="3950208"/>
                  </a:cubicBezTo>
                  <a:lnTo>
                    <a:pt x="195072" y="3950208"/>
                  </a:lnTo>
                  <a:cubicBezTo>
                    <a:pt x="87376" y="3950208"/>
                    <a:pt x="0" y="3862832"/>
                    <a:pt x="0" y="3755136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16736" y="6309360"/>
            <a:ext cx="1024128" cy="1024128"/>
            <a:chOff x="0" y="0"/>
            <a:chExt cx="1365504" cy="13655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682752"/>
                  </a:moveTo>
                  <a:cubicBezTo>
                    <a:pt x="0" y="305689"/>
                    <a:pt x="305689" y="0"/>
                    <a:pt x="682752" y="0"/>
                  </a:cubicBezTo>
                  <a:cubicBezTo>
                    <a:pt x="1059815" y="0"/>
                    <a:pt x="1365504" y="305689"/>
                    <a:pt x="1365504" y="682752"/>
                  </a:cubicBezTo>
                  <a:cubicBezTo>
                    <a:pt x="1365504" y="1059815"/>
                    <a:pt x="1059815" y="1365504"/>
                    <a:pt x="682752" y="1365504"/>
                  </a:cubicBezTo>
                  <a:cubicBezTo>
                    <a:pt x="305689" y="1365504"/>
                    <a:pt x="0" y="1059815"/>
                    <a:pt x="0" y="682752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554480" y="6547104"/>
            <a:ext cx="548640" cy="548640"/>
            <a:chOff x="0" y="0"/>
            <a:chExt cx="731520" cy="73152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651760" y="6181344"/>
            <a:ext cx="6035040" cy="914400"/>
            <a:chOff x="0" y="0"/>
            <a:chExt cx="8046720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46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80467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Hyperparamètres balayés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651760" y="6986016"/>
            <a:ext cx="5943600" cy="1682496"/>
            <a:chOff x="0" y="0"/>
            <a:chExt cx="7924800" cy="22433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9248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833" r="0" b="-1883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7924800" cy="2290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n_neighbors = 20 confirmé optimal après égalisation (F1 0,90), re-balayé à chaque changement.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326880" y="5852160"/>
            <a:ext cx="8046720" cy="2962656"/>
            <a:chOff x="0" y="0"/>
            <a:chExt cx="10728960" cy="395020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28960" cy="3950208"/>
            </a:xfrm>
            <a:custGeom>
              <a:avLst/>
              <a:gdLst/>
              <a:ahLst/>
              <a:cxnLst/>
              <a:rect r="r" b="b" t="t" l="l"/>
              <a:pathLst>
                <a:path h="3950208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3755136"/>
                  </a:lnTo>
                  <a:cubicBezTo>
                    <a:pt x="10728960" y="3862832"/>
                    <a:pt x="10641584" y="3950208"/>
                    <a:pt x="10533888" y="3950208"/>
                  </a:cubicBezTo>
                  <a:lnTo>
                    <a:pt x="195072" y="3950208"/>
                  </a:lnTo>
                  <a:cubicBezTo>
                    <a:pt x="87376" y="3950208"/>
                    <a:pt x="0" y="3862832"/>
                    <a:pt x="0" y="3755136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729216" y="6309360"/>
            <a:ext cx="1024128" cy="1024128"/>
            <a:chOff x="0" y="0"/>
            <a:chExt cx="1365504" cy="136550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682752"/>
                  </a:moveTo>
                  <a:cubicBezTo>
                    <a:pt x="0" y="305689"/>
                    <a:pt x="305689" y="0"/>
                    <a:pt x="682752" y="0"/>
                  </a:cubicBezTo>
                  <a:cubicBezTo>
                    <a:pt x="1059815" y="0"/>
                    <a:pt x="1365504" y="305689"/>
                    <a:pt x="1365504" y="682752"/>
                  </a:cubicBezTo>
                  <a:cubicBezTo>
                    <a:pt x="1365504" y="1059815"/>
                    <a:pt x="1059815" y="1365504"/>
                    <a:pt x="682752" y="1365504"/>
                  </a:cubicBezTo>
                  <a:cubicBezTo>
                    <a:pt x="305689" y="1365504"/>
                    <a:pt x="0" y="1059815"/>
                    <a:pt x="0" y="682752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966960" y="6547104"/>
            <a:ext cx="548640" cy="548640"/>
            <a:chOff x="0" y="0"/>
            <a:chExt cx="731520" cy="731520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064240" y="6181344"/>
            <a:ext cx="6035040" cy="914400"/>
            <a:chOff x="0" y="0"/>
            <a:chExt cx="804672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046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80467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Données contrôlées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064240" y="6986016"/>
            <a:ext cx="5943600" cy="1682496"/>
            <a:chOff x="0" y="0"/>
            <a:chExt cx="7924800" cy="22433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9248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833" r="0" b="-1883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7924800" cy="2290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 images atypiques inspectées : IRM différentes mais saines, aucun retrait nécessaire.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68096"/>
            <a:ext cx="1133856" cy="1133856"/>
            <a:chOff x="0" y="0"/>
            <a:chExt cx="1511808" cy="1511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0432" y="1024128"/>
            <a:ext cx="621792" cy="621792"/>
            <a:chOff x="0" y="0"/>
            <a:chExt cx="829056" cy="829056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40864" y="731520"/>
            <a:ext cx="14996160" cy="1207008"/>
            <a:chOff x="0" y="0"/>
            <a:chExt cx="19994880" cy="1609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086" r="0" b="-19208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9994880" cy="1714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 que révèle la comparaison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651760"/>
            <a:ext cx="16459200" cy="1975104"/>
            <a:chOff x="0" y="0"/>
            <a:chExt cx="21945600" cy="26334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2633472"/>
            </a:xfrm>
            <a:custGeom>
              <a:avLst/>
              <a:gdLst/>
              <a:ahLst/>
              <a:cxnLst/>
              <a:rect r="r" b="b" t="t" l="l"/>
              <a:pathLst>
                <a:path h="2633472" w="219456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750528" y="0"/>
                  </a:lnTo>
                  <a:cubicBezTo>
                    <a:pt x="21858224" y="0"/>
                    <a:pt x="21945600" y="87376"/>
                    <a:pt x="21945600" y="195072"/>
                  </a:cubicBezTo>
                  <a:lnTo>
                    <a:pt x="21945600" y="2438400"/>
                  </a:lnTo>
                  <a:cubicBezTo>
                    <a:pt x="21945600" y="2546096"/>
                    <a:pt x="21858224" y="2633472"/>
                    <a:pt x="21750528" y="2633472"/>
                  </a:cubicBezTo>
                  <a:lnTo>
                    <a:pt x="195072" y="2633472"/>
                  </a:lnTo>
                  <a:cubicBezTo>
                    <a:pt x="87376" y="2633472"/>
                    <a:pt x="0" y="2546096"/>
                    <a:pt x="0" y="2438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6736" y="3127248"/>
            <a:ext cx="1024128" cy="1024128"/>
            <a:chOff x="0" y="0"/>
            <a:chExt cx="1365504" cy="13655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682752"/>
                  </a:moveTo>
                  <a:cubicBezTo>
                    <a:pt x="0" y="305689"/>
                    <a:pt x="305689" y="0"/>
                    <a:pt x="682752" y="0"/>
                  </a:cubicBezTo>
                  <a:cubicBezTo>
                    <a:pt x="1059815" y="0"/>
                    <a:pt x="1365504" y="305689"/>
                    <a:pt x="1365504" y="682752"/>
                  </a:cubicBezTo>
                  <a:cubicBezTo>
                    <a:pt x="1365504" y="1059815"/>
                    <a:pt x="1059815" y="1365504"/>
                    <a:pt x="682752" y="1365504"/>
                  </a:cubicBezTo>
                  <a:cubicBezTo>
                    <a:pt x="305689" y="1365504"/>
                    <a:pt x="0" y="1059815"/>
                    <a:pt x="0" y="682752"/>
                  </a:cubicBezTo>
                  <a:close/>
                </a:path>
              </a:pathLst>
            </a:custGeom>
            <a:solidFill>
              <a:srgbClr val="E4572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54480" y="3364992"/>
            <a:ext cx="548640" cy="548640"/>
            <a:chOff x="0" y="0"/>
            <a:chExt cx="731520" cy="73152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743200" y="2907792"/>
            <a:ext cx="14264640" cy="731520"/>
            <a:chOff x="0" y="0"/>
            <a:chExt cx="1901952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1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9019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Les CNN appris de zéro plafonnent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43200" y="3602736"/>
            <a:ext cx="14356080" cy="914400"/>
            <a:chOff x="0" y="0"/>
            <a:chExt cx="1914144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141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141439">
                  <a:moveTo>
                    <a:pt x="0" y="0"/>
                  </a:moveTo>
                  <a:lnTo>
                    <a:pt x="19141439" y="0"/>
                  </a:lnTo>
                  <a:lnTo>
                    <a:pt x="19141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5915" r="0" b="-25591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91414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Avec 70 (ou ~1 400 bruitées) images, le CNN apprend mal ses propres features : supervisé et clustering-semi restent à égalité (F1 ≈ 0,71).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4846320"/>
            <a:ext cx="16459200" cy="1975104"/>
            <a:chOff x="0" y="0"/>
            <a:chExt cx="21945600" cy="26334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0" cy="2633472"/>
            </a:xfrm>
            <a:custGeom>
              <a:avLst/>
              <a:gdLst/>
              <a:ahLst/>
              <a:cxnLst/>
              <a:rect r="r" b="b" t="t" l="l"/>
              <a:pathLst>
                <a:path h="2633472" w="219456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750528" y="0"/>
                  </a:lnTo>
                  <a:cubicBezTo>
                    <a:pt x="21858224" y="0"/>
                    <a:pt x="21945600" y="87376"/>
                    <a:pt x="21945600" y="195072"/>
                  </a:cubicBezTo>
                  <a:lnTo>
                    <a:pt x="21945600" y="2438400"/>
                  </a:lnTo>
                  <a:cubicBezTo>
                    <a:pt x="21945600" y="2546096"/>
                    <a:pt x="21858224" y="2633472"/>
                    <a:pt x="21750528" y="2633472"/>
                  </a:cubicBezTo>
                  <a:lnTo>
                    <a:pt x="195072" y="2633472"/>
                  </a:lnTo>
                  <a:cubicBezTo>
                    <a:pt x="87376" y="2633472"/>
                    <a:pt x="0" y="2546096"/>
                    <a:pt x="0" y="2438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16736" y="5321808"/>
            <a:ext cx="1024128" cy="1024128"/>
            <a:chOff x="0" y="0"/>
            <a:chExt cx="1365504" cy="13655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682752"/>
                  </a:moveTo>
                  <a:cubicBezTo>
                    <a:pt x="0" y="305689"/>
                    <a:pt x="305689" y="0"/>
                    <a:pt x="682752" y="0"/>
                  </a:cubicBezTo>
                  <a:cubicBezTo>
                    <a:pt x="1059815" y="0"/>
                    <a:pt x="1365504" y="305689"/>
                    <a:pt x="1365504" y="682752"/>
                  </a:cubicBezTo>
                  <a:cubicBezTo>
                    <a:pt x="1365504" y="1059815"/>
                    <a:pt x="1059815" y="1365504"/>
                    <a:pt x="682752" y="1365504"/>
                  </a:cubicBezTo>
                  <a:cubicBezTo>
                    <a:pt x="305689" y="1365504"/>
                    <a:pt x="0" y="1059815"/>
                    <a:pt x="0" y="682752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54480" y="5559552"/>
            <a:ext cx="548640" cy="548640"/>
            <a:chOff x="0" y="0"/>
            <a:chExt cx="731520" cy="73152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743200" y="5102352"/>
            <a:ext cx="14264640" cy="731520"/>
            <a:chOff x="0" y="0"/>
            <a:chExt cx="1901952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01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9019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 label propagation réutilise les features ResNet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743200" y="5797296"/>
            <a:ext cx="14356080" cy="914400"/>
            <a:chOff x="0" y="0"/>
            <a:chExt cx="1914144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141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141439">
                  <a:moveTo>
                    <a:pt x="0" y="0"/>
                  </a:moveTo>
                  <a:lnTo>
                    <a:pt x="19141439" y="0"/>
                  </a:lnTo>
                  <a:lnTo>
                    <a:pt x="19141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5915" r="0" b="-25591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91414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Aucun CNN à entraîner : elle propage les 70 vrais labels à travers le graphe de similarité des embeddings égalisés.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7040880"/>
            <a:ext cx="16459200" cy="1975104"/>
            <a:chOff x="0" y="0"/>
            <a:chExt cx="21945600" cy="26334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00" cy="2633472"/>
            </a:xfrm>
            <a:custGeom>
              <a:avLst/>
              <a:gdLst/>
              <a:ahLst/>
              <a:cxnLst/>
              <a:rect r="r" b="b" t="t" l="l"/>
              <a:pathLst>
                <a:path h="2633472" w="219456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750528" y="0"/>
                  </a:lnTo>
                  <a:cubicBezTo>
                    <a:pt x="21858224" y="0"/>
                    <a:pt x="21945600" y="87376"/>
                    <a:pt x="21945600" y="195072"/>
                  </a:cubicBezTo>
                  <a:lnTo>
                    <a:pt x="21945600" y="2438400"/>
                  </a:lnTo>
                  <a:cubicBezTo>
                    <a:pt x="21945600" y="2546096"/>
                    <a:pt x="21858224" y="2633472"/>
                    <a:pt x="21750528" y="2633472"/>
                  </a:cubicBezTo>
                  <a:lnTo>
                    <a:pt x="195072" y="2633472"/>
                  </a:lnTo>
                  <a:cubicBezTo>
                    <a:pt x="87376" y="2633472"/>
                    <a:pt x="0" y="2546096"/>
                    <a:pt x="0" y="2438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16736" y="7516368"/>
            <a:ext cx="1024128" cy="1024128"/>
            <a:chOff x="0" y="0"/>
            <a:chExt cx="1365504" cy="13655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682752"/>
                  </a:moveTo>
                  <a:cubicBezTo>
                    <a:pt x="0" y="305689"/>
                    <a:pt x="305689" y="0"/>
                    <a:pt x="682752" y="0"/>
                  </a:cubicBezTo>
                  <a:cubicBezTo>
                    <a:pt x="1059815" y="0"/>
                    <a:pt x="1365504" y="305689"/>
                    <a:pt x="1365504" y="682752"/>
                  </a:cubicBezTo>
                  <a:cubicBezTo>
                    <a:pt x="1365504" y="1059815"/>
                    <a:pt x="1059815" y="1365504"/>
                    <a:pt x="682752" y="1365504"/>
                  </a:cubicBezTo>
                  <a:cubicBezTo>
                    <a:pt x="305689" y="1365504"/>
                    <a:pt x="0" y="1059815"/>
                    <a:pt x="0" y="682752"/>
                  </a:cubicBezTo>
                  <a:close/>
                </a:path>
              </a:pathLst>
            </a:custGeom>
            <a:solidFill>
              <a:srgbClr val="12B5A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554480" y="7754112"/>
            <a:ext cx="548640" cy="548640"/>
            <a:chOff x="0" y="0"/>
            <a:chExt cx="731520" cy="73152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743200" y="7296912"/>
            <a:ext cx="14264640" cy="731520"/>
            <a:chOff x="0" y="0"/>
            <a:chExt cx="19019520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01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9019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Résultat : F1 0,90 · rappel 0,87 · AUC 0,975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743200" y="7991856"/>
            <a:ext cx="14356080" cy="914400"/>
            <a:chOff x="0" y="0"/>
            <a:chExt cx="1914144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141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141439">
                  <a:moveTo>
                    <a:pt x="0" y="0"/>
                  </a:moveTo>
                  <a:lnTo>
                    <a:pt x="19141439" y="0"/>
                  </a:lnTo>
                  <a:lnTo>
                    <a:pt x="19141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5915" r="0" b="-25591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91414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 semi-supervisé apporte bien un gain, le verrou n'était pas l'idée, mais le véhicule : un CNN entraîné de zéro sur trop peu de données.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68096"/>
            <a:ext cx="1133856" cy="1133856"/>
            <a:chOff x="0" y="0"/>
            <a:chExt cx="1511808" cy="1511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0432" y="1024128"/>
            <a:ext cx="621792" cy="621792"/>
            <a:chOff x="0" y="0"/>
            <a:chExt cx="829056" cy="829056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40864" y="731520"/>
            <a:ext cx="14996160" cy="1207008"/>
            <a:chOff x="0" y="0"/>
            <a:chExt cx="19994880" cy="1609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086" r="0" b="-19208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9994880" cy="1714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Métrique prioritaire &amp; « definition of done »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560320"/>
            <a:ext cx="8046720" cy="6675120"/>
            <a:chOff x="0" y="0"/>
            <a:chExt cx="10728960" cy="8900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28960" cy="8900160"/>
            </a:xfrm>
            <a:custGeom>
              <a:avLst/>
              <a:gdLst/>
              <a:ahLst/>
              <a:cxnLst/>
              <a:rect r="r" b="b" t="t" l="l"/>
              <a:pathLst>
                <a:path h="8900160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8705088"/>
                  </a:lnTo>
                  <a:cubicBezTo>
                    <a:pt x="10728960" y="8812784"/>
                    <a:pt x="10641584" y="8900160"/>
                    <a:pt x="10533888" y="8900160"/>
                  </a:cubicBezTo>
                  <a:lnTo>
                    <a:pt x="195072" y="8900160"/>
                  </a:lnTo>
                  <a:cubicBezTo>
                    <a:pt x="87376" y="8900160"/>
                    <a:pt x="0" y="8812784"/>
                    <a:pt x="0" y="870508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1600" y="2962656"/>
            <a:ext cx="1097280" cy="1097280"/>
            <a:chOff x="0" y="0"/>
            <a:chExt cx="146304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E4572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27632" y="3218688"/>
            <a:ext cx="585216" cy="585216"/>
            <a:chOff x="0" y="0"/>
            <a:chExt cx="780288" cy="78028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743200" y="3035808"/>
            <a:ext cx="6035040" cy="1005840"/>
            <a:chOff x="0" y="0"/>
            <a:chExt cx="8046720" cy="1341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46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0467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9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Pourquoi le rappel sur le cancer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4389120"/>
            <a:ext cx="7223760" cy="4572000"/>
            <a:chOff x="0" y="0"/>
            <a:chExt cx="9631680" cy="609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31680" cy="6096000"/>
            </a:xfrm>
            <a:custGeom>
              <a:avLst/>
              <a:gdLst/>
              <a:ahLst/>
              <a:cxnLst/>
              <a:rect r="r" b="b" t="t" l="l"/>
              <a:pathLst>
                <a:path h="609600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204" t="0" r="-3120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631680" cy="6143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D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Faux négatif = tumeur manquée = patient non pris en charge. C'est l'erreur la plus grave.</a:t>
              </a: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D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Une fausse alerte (faux positif) coûte un examen complémentaire, bien moins lourd.</a:t>
              </a: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D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On optimise le rappel cancer, F1 et AUC en appui. L'accuracy seule serait trompeuse.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26880" y="2560320"/>
            <a:ext cx="8046720" cy="6675120"/>
            <a:chOff x="0" y="0"/>
            <a:chExt cx="10728960" cy="8900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28960" cy="8900160"/>
            </a:xfrm>
            <a:custGeom>
              <a:avLst/>
              <a:gdLst/>
              <a:ahLst/>
              <a:cxnLst/>
              <a:rect r="r" b="b" t="t" l="l"/>
              <a:pathLst>
                <a:path h="8900160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8705088"/>
                  </a:lnTo>
                  <a:cubicBezTo>
                    <a:pt x="10728960" y="8812784"/>
                    <a:pt x="10641584" y="8900160"/>
                    <a:pt x="10533888" y="8900160"/>
                  </a:cubicBezTo>
                  <a:lnTo>
                    <a:pt x="195072" y="8900160"/>
                  </a:lnTo>
                  <a:cubicBezTo>
                    <a:pt x="87376" y="8900160"/>
                    <a:pt x="0" y="8812784"/>
                    <a:pt x="0" y="870508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784080" y="2962656"/>
            <a:ext cx="1097280" cy="1097280"/>
            <a:chOff x="0" y="0"/>
            <a:chExt cx="146304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040112" y="3218688"/>
            <a:ext cx="585216" cy="585216"/>
            <a:chOff x="0" y="0"/>
            <a:chExt cx="780288" cy="780288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155680" y="3035808"/>
            <a:ext cx="5852160" cy="1005840"/>
            <a:chOff x="0" y="0"/>
            <a:chExt cx="7802880" cy="1341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802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780288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9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Definition of done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84080" y="4389120"/>
            <a:ext cx="7223760" cy="4572000"/>
            <a:chOff x="0" y="0"/>
            <a:chExt cx="9631680" cy="6096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31680" cy="6096000"/>
            </a:xfrm>
            <a:custGeom>
              <a:avLst/>
              <a:gdLst/>
              <a:ahLst/>
              <a:cxnLst/>
              <a:rect r="r" b="b" t="t" l="l"/>
              <a:pathLst>
                <a:path h="609600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204" t="0" r="-3120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631680" cy="6143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E2D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Protocole sans aucune fuite test ↔ entraînement (vérifié : 0)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E2D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Rappel, F1 et AUC cancer rapportés sur un test jamais vu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E2D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Comparaison chiffrée des approches, moyennée sur plusieurs découpages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E2D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Succès « fort » = une approche égale ou dépasse le supervisé en rappel cancer ✓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68096"/>
            <a:ext cx="1133856" cy="1133856"/>
            <a:chOff x="0" y="0"/>
            <a:chExt cx="1511808" cy="1511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0432" y="1024128"/>
            <a:ext cx="621792" cy="621792"/>
            <a:chOff x="0" y="0"/>
            <a:chExt cx="829056" cy="829056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40864" y="731520"/>
            <a:ext cx="14996160" cy="1207008"/>
            <a:chOff x="0" y="0"/>
            <a:chExt cx="19994880" cy="1609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086" r="0" b="-19208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9994880" cy="1714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Passage à l'échelle : l'économie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231136"/>
            <a:ext cx="16459200" cy="731520"/>
            <a:chOff x="0" y="0"/>
            <a:chExt cx="2194560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Cible : 5 000 € pour labelliser 4 millions d'images.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3657600"/>
            <a:ext cx="5340096" cy="4206240"/>
            <a:chOff x="0" y="0"/>
            <a:chExt cx="7120128" cy="5608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20128" cy="5608320"/>
            </a:xfrm>
            <a:custGeom>
              <a:avLst/>
              <a:gdLst/>
              <a:ahLst/>
              <a:cxnLst/>
              <a:rect r="r" b="b" t="t" l="l"/>
              <a:pathLst>
                <a:path h="5608320" w="7120128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925056" y="0"/>
                  </a:lnTo>
                  <a:cubicBezTo>
                    <a:pt x="7032752" y="0"/>
                    <a:pt x="7120128" y="87376"/>
                    <a:pt x="7120128" y="195072"/>
                  </a:cubicBezTo>
                  <a:lnTo>
                    <a:pt x="7120128" y="5413248"/>
                  </a:lnTo>
                  <a:cubicBezTo>
                    <a:pt x="7120128" y="5520944"/>
                    <a:pt x="7032752" y="5608320"/>
                    <a:pt x="6925056" y="5608320"/>
                  </a:cubicBezTo>
                  <a:lnTo>
                    <a:pt x="195072" y="5608320"/>
                  </a:lnTo>
                  <a:cubicBezTo>
                    <a:pt x="87376" y="5608320"/>
                    <a:pt x="0" y="5520944"/>
                    <a:pt x="0" y="541324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4480560"/>
            <a:ext cx="5340096" cy="1463040"/>
            <a:chOff x="0" y="0"/>
            <a:chExt cx="7120128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20128" cy="1950720"/>
            </a:xfrm>
            <a:custGeom>
              <a:avLst/>
              <a:gdLst/>
              <a:ahLst/>
              <a:cxnLst/>
              <a:rect r="r" b="b" t="t" l="l"/>
              <a:pathLst>
                <a:path h="195072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120" r="0" b="-2112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61925"/>
              <a:ext cx="7120128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5B71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0,20 €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5907024"/>
            <a:ext cx="5340096" cy="1280160"/>
            <a:chOff x="0" y="0"/>
            <a:chExt cx="7120128" cy="1706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20128" cy="1706880"/>
            </a:xfrm>
            <a:custGeom>
              <a:avLst/>
              <a:gdLst/>
              <a:ahLst/>
              <a:cxnLst/>
              <a:rect r="r" b="b" t="t" l="l"/>
              <a:pathLst>
                <a:path h="170688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280" r="0" b="-3128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120128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coût/image aujourd'hui (300 € / 1 500)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73952" y="3657600"/>
            <a:ext cx="5340096" cy="4206240"/>
            <a:chOff x="0" y="0"/>
            <a:chExt cx="7120128" cy="5608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20128" cy="5608320"/>
            </a:xfrm>
            <a:custGeom>
              <a:avLst/>
              <a:gdLst/>
              <a:ahLst/>
              <a:cxnLst/>
              <a:rect r="r" b="b" t="t" l="l"/>
              <a:pathLst>
                <a:path h="5608320" w="7120128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925056" y="0"/>
                  </a:lnTo>
                  <a:cubicBezTo>
                    <a:pt x="7032752" y="0"/>
                    <a:pt x="7120128" y="87376"/>
                    <a:pt x="7120128" y="195072"/>
                  </a:cubicBezTo>
                  <a:lnTo>
                    <a:pt x="7120128" y="5413248"/>
                  </a:lnTo>
                  <a:cubicBezTo>
                    <a:pt x="7120128" y="5520944"/>
                    <a:pt x="7032752" y="5608320"/>
                    <a:pt x="6925056" y="5608320"/>
                  </a:cubicBezTo>
                  <a:lnTo>
                    <a:pt x="195072" y="5608320"/>
                  </a:lnTo>
                  <a:cubicBezTo>
                    <a:pt x="87376" y="5608320"/>
                    <a:pt x="0" y="5520944"/>
                    <a:pt x="0" y="541324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73952" y="4480560"/>
            <a:ext cx="5340096" cy="1463040"/>
            <a:chOff x="0" y="0"/>
            <a:chExt cx="7120128" cy="1950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20128" cy="1950720"/>
            </a:xfrm>
            <a:custGeom>
              <a:avLst/>
              <a:gdLst/>
              <a:ahLst/>
              <a:cxnLst/>
              <a:rect r="r" b="b" t="t" l="l"/>
              <a:pathLst>
                <a:path h="195072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120" r="0" b="-2112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61925"/>
              <a:ext cx="7120128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0C7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0,00125 €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473952" y="5907024"/>
            <a:ext cx="5340096" cy="1280160"/>
            <a:chOff x="0" y="0"/>
            <a:chExt cx="7120128" cy="1706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20128" cy="1706880"/>
            </a:xfrm>
            <a:custGeom>
              <a:avLst/>
              <a:gdLst/>
              <a:ahLst/>
              <a:cxnLst/>
              <a:rect r="r" b="b" t="t" l="l"/>
              <a:pathLst>
                <a:path h="170688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280" r="0" b="-3128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120128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coût/image visé (5 000 € / 4 M)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33504" y="3657600"/>
            <a:ext cx="5340096" cy="4206240"/>
            <a:chOff x="0" y="0"/>
            <a:chExt cx="7120128" cy="5608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20128" cy="5608320"/>
            </a:xfrm>
            <a:custGeom>
              <a:avLst/>
              <a:gdLst/>
              <a:ahLst/>
              <a:cxnLst/>
              <a:rect r="r" b="b" t="t" l="l"/>
              <a:pathLst>
                <a:path h="5608320" w="7120128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925056" y="0"/>
                  </a:lnTo>
                  <a:cubicBezTo>
                    <a:pt x="7032752" y="0"/>
                    <a:pt x="7120128" y="87376"/>
                    <a:pt x="7120128" y="195072"/>
                  </a:cubicBezTo>
                  <a:lnTo>
                    <a:pt x="7120128" y="5413248"/>
                  </a:lnTo>
                  <a:cubicBezTo>
                    <a:pt x="7120128" y="5520944"/>
                    <a:pt x="7032752" y="5608320"/>
                    <a:pt x="6925056" y="5608320"/>
                  </a:cubicBezTo>
                  <a:lnTo>
                    <a:pt x="195072" y="5608320"/>
                  </a:lnTo>
                  <a:cubicBezTo>
                    <a:pt x="87376" y="5608320"/>
                    <a:pt x="0" y="5520944"/>
                    <a:pt x="0" y="5413248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033504" y="4480560"/>
            <a:ext cx="5340096" cy="1463040"/>
            <a:chOff x="0" y="0"/>
            <a:chExt cx="7120128" cy="1950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20128" cy="1950720"/>
            </a:xfrm>
            <a:custGeom>
              <a:avLst/>
              <a:gdLst/>
              <a:ahLst/>
              <a:cxnLst/>
              <a:rect r="r" b="b" t="t" l="l"/>
              <a:pathLst>
                <a:path h="195072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120" r="0" b="-2112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61925"/>
              <a:ext cx="7120128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E457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 160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033504" y="5907024"/>
            <a:ext cx="5340096" cy="1280160"/>
            <a:chOff x="0" y="0"/>
            <a:chExt cx="7120128" cy="1706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20128" cy="1706880"/>
            </a:xfrm>
            <a:custGeom>
              <a:avLst/>
              <a:gdLst/>
              <a:ahLst/>
              <a:cxnLst/>
              <a:rect r="r" b="b" t="t" l="l"/>
              <a:pathLst>
                <a:path h="170688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280" r="0" b="-3128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7120128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réduction de coût par image exigée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" y="8229600"/>
            <a:ext cx="16459200" cy="1645920"/>
            <a:chOff x="0" y="0"/>
            <a:chExt cx="21945600" cy="21945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219456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5B71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Le calcul pur de compute (inférence sur GPU) tient largement dans 5 000 €. La contrainte n'est donc pas le budget mais la QUALITÉ des labels produits : à 0,68 d'accuracy au clustering, propager tel quel à 4 M d'images amplifierait le bruit.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68096"/>
            <a:ext cx="1133856" cy="1133856"/>
            <a:chOff x="0" y="0"/>
            <a:chExt cx="1511808" cy="1511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0432" y="1024128"/>
            <a:ext cx="621792" cy="621792"/>
            <a:chOff x="0" y="0"/>
            <a:chExt cx="829056" cy="829056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40864" y="731520"/>
            <a:ext cx="14996160" cy="1207008"/>
            <a:chOff x="0" y="0"/>
            <a:chExt cx="19994880" cy="1609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086" r="0" b="-19208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9994880" cy="1714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Faisable — sous 4 conditions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651760"/>
            <a:ext cx="8046720" cy="2962656"/>
            <a:chOff x="0" y="0"/>
            <a:chExt cx="10728960" cy="39502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28960" cy="3950208"/>
            </a:xfrm>
            <a:custGeom>
              <a:avLst/>
              <a:gdLst/>
              <a:ahLst/>
              <a:cxnLst/>
              <a:rect r="r" b="b" t="t" l="l"/>
              <a:pathLst>
                <a:path h="3950208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3755136"/>
                  </a:lnTo>
                  <a:cubicBezTo>
                    <a:pt x="10728960" y="3862832"/>
                    <a:pt x="10641584" y="3950208"/>
                    <a:pt x="10533888" y="3950208"/>
                  </a:cubicBezTo>
                  <a:lnTo>
                    <a:pt x="195072" y="3950208"/>
                  </a:lnTo>
                  <a:cubicBezTo>
                    <a:pt x="87376" y="3950208"/>
                    <a:pt x="0" y="3862832"/>
                    <a:pt x="0" y="3755136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6736" y="3108960"/>
            <a:ext cx="1024128" cy="1024128"/>
            <a:chOff x="0" y="0"/>
            <a:chExt cx="1365504" cy="13655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682752"/>
                  </a:moveTo>
                  <a:cubicBezTo>
                    <a:pt x="0" y="305689"/>
                    <a:pt x="305689" y="0"/>
                    <a:pt x="682752" y="0"/>
                  </a:cubicBezTo>
                  <a:cubicBezTo>
                    <a:pt x="1059815" y="0"/>
                    <a:pt x="1365504" y="305689"/>
                    <a:pt x="1365504" y="682752"/>
                  </a:cubicBezTo>
                  <a:cubicBezTo>
                    <a:pt x="1365504" y="1059815"/>
                    <a:pt x="1059815" y="1365504"/>
                    <a:pt x="682752" y="1365504"/>
                  </a:cubicBezTo>
                  <a:cubicBezTo>
                    <a:pt x="305689" y="1365504"/>
                    <a:pt x="0" y="1059815"/>
                    <a:pt x="0" y="682752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54480" y="3346704"/>
            <a:ext cx="548640" cy="548640"/>
            <a:chOff x="0" y="0"/>
            <a:chExt cx="731520" cy="73152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651760" y="2980944"/>
            <a:ext cx="6035040" cy="1005840"/>
            <a:chOff x="0" y="0"/>
            <a:chExt cx="8046720" cy="1341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46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0467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 features adaptées au domaine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51760" y="3858768"/>
            <a:ext cx="5943600" cy="1645920"/>
            <a:chOff x="0" y="0"/>
            <a:chExt cx="7924800" cy="21945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24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92480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Remplacer ImageNet par un encodeur auto-supervisé (SimCLR/DINO) entraîné sur les 4 M images non labellisées. C'est le levier n°1, l'égalisation a déjà montré la voie.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26880" y="2651760"/>
            <a:ext cx="8046720" cy="2962656"/>
            <a:chOff x="0" y="0"/>
            <a:chExt cx="10728960" cy="39502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28960" cy="3950208"/>
            </a:xfrm>
            <a:custGeom>
              <a:avLst/>
              <a:gdLst/>
              <a:ahLst/>
              <a:cxnLst/>
              <a:rect r="r" b="b" t="t" l="l"/>
              <a:pathLst>
                <a:path h="3950208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3755136"/>
                  </a:lnTo>
                  <a:cubicBezTo>
                    <a:pt x="10728960" y="3862832"/>
                    <a:pt x="10641584" y="3950208"/>
                    <a:pt x="10533888" y="3950208"/>
                  </a:cubicBezTo>
                  <a:lnTo>
                    <a:pt x="195072" y="3950208"/>
                  </a:lnTo>
                  <a:cubicBezTo>
                    <a:pt x="87376" y="3950208"/>
                    <a:pt x="0" y="3862832"/>
                    <a:pt x="0" y="3755136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729216" y="3108960"/>
            <a:ext cx="1024128" cy="1024128"/>
            <a:chOff x="0" y="0"/>
            <a:chExt cx="1365504" cy="13655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682752"/>
                  </a:moveTo>
                  <a:cubicBezTo>
                    <a:pt x="0" y="305689"/>
                    <a:pt x="305689" y="0"/>
                    <a:pt x="682752" y="0"/>
                  </a:cubicBezTo>
                  <a:cubicBezTo>
                    <a:pt x="1059815" y="0"/>
                    <a:pt x="1365504" y="305689"/>
                    <a:pt x="1365504" y="682752"/>
                  </a:cubicBezTo>
                  <a:cubicBezTo>
                    <a:pt x="1365504" y="1059815"/>
                    <a:pt x="1059815" y="1365504"/>
                    <a:pt x="682752" y="1365504"/>
                  </a:cubicBezTo>
                  <a:cubicBezTo>
                    <a:pt x="305689" y="1365504"/>
                    <a:pt x="0" y="1059815"/>
                    <a:pt x="0" y="682752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966960" y="3346704"/>
            <a:ext cx="548640" cy="548640"/>
            <a:chOff x="0" y="0"/>
            <a:chExt cx="731520" cy="73152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064240" y="2980944"/>
            <a:ext cx="6035040" cy="1005840"/>
            <a:chOff x="0" y="0"/>
            <a:chExt cx="8046720" cy="1341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46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80467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 l'active learning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064240" y="3858768"/>
            <a:ext cx="5943600" cy="1645920"/>
            <a:chOff x="0" y="0"/>
            <a:chExt cx="7924800" cy="2194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924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792480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Dépenser le budget d'annotation experte sur les images les plus incertaines plutôt qu'au hasard : maximiser la valeur de chaque label payé.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5852160"/>
            <a:ext cx="8046720" cy="2962656"/>
            <a:chOff x="0" y="0"/>
            <a:chExt cx="10728960" cy="39502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28960" cy="3950208"/>
            </a:xfrm>
            <a:custGeom>
              <a:avLst/>
              <a:gdLst/>
              <a:ahLst/>
              <a:cxnLst/>
              <a:rect r="r" b="b" t="t" l="l"/>
              <a:pathLst>
                <a:path h="3950208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3755136"/>
                  </a:lnTo>
                  <a:cubicBezTo>
                    <a:pt x="10728960" y="3862832"/>
                    <a:pt x="10641584" y="3950208"/>
                    <a:pt x="10533888" y="3950208"/>
                  </a:cubicBezTo>
                  <a:lnTo>
                    <a:pt x="195072" y="3950208"/>
                  </a:lnTo>
                  <a:cubicBezTo>
                    <a:pt x="87376" y="3950208"/>
                    <a:pt x="0" y="3862832"/>
                    <a:pt x="0" y="3755136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16736" y="6309360"/>
            <a:ext cx="1024128" cy="1024128"/>
            <a:chOff x="0" y="0"/>
            <a:chExt cx="1365504" cy="13655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682752"/>
                  </a:moveTo>
                  <a:cubicBezTo>
                    <a:pt x="0" y="305689"/>
                    <a:pt x="305689" y="0"/>
                    <a:pt x="682752" y="0"/>
                  </a:cubicBezTo>
                  <a:cubicBezTo>
                    <a:pt x="1059815" y="0"/>
                    <a:pt x="1365504" y="305689"/>
                    <a:pt x="1365504" y="682752"/>
                  </a:cubicBezTo>
                  <a:cubicBezTo>
                    <a:pt x="1365504" y="1059815"/>
                    <a:pt x="1059815" y="1365504"/>
                    <a:pt x="682752" y="1365504"/>
                  </a:cubicBezTo>
                  <a:cubicBezTo>
                    <a:pt x="305689" y="1365504"/>
                    <a:pt x="0" y="1059815"/>
                    <a:pt x="0" y="682752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554480" y="6547104"/>
            <a:ext cx="548640" cy="548640"/>
            <a:chOff x="0" y="0"/>
            <a:chExt cx="731520" cy="73152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651760" y="6181344"/>
            <a:ext cx="6035040" cy="1005840"/>
            <a:chOff x="0" y="0"/>
            <a:chExt cx="8046720" cy="13411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46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80467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 humain dans la boucle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651760" y="7059168"/>
            <a:ext cx="5943600" cy="1645920"/>
            <a:chOff x="0" y="0"/>
            <a:chExt cx="7924800" cy="2194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924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792480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Revue experte des cas que le modèle flague comme « cancer » : on privilégie le rappel, l'humain filtre les fausses alertes.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326880" y="5852160"/>
            <a:ext cx="8046720" cy="2962656"/>
            <a:chOff x="0" y="0"/>
            <a:chExt cx="10728960" cy="395020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28960" cy="3950208"/>
            </a:xfrm>
            <a:custGeom>
              <a:avLst/>
              <a:gdLst/>
              <a:ahLst/>
              <a:cxnLst/>
              <a:rect r="r" b="b" t="t" l="l"/>
              <a:pathLst>
                <a:path h="3950208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3755136"/>
                  </a:lnTo>
                  <a:cubicBezTo>
                    <a:pt x="10728960" y="3862832"/>
                    <a:pt x="10641584" y="3950208"/>
                    <a:pt x="10533888" y="3950208"/>
                  </a:cubicBezTo>
                  <a:lnTo>
                    <a:pt x="195072" y="3950208"/>
                  </a:lnTo>
                  <a:cubicBezTo>
                    <a:pt x="87376" y="3950208"/>
                    <a:pt x="0" y="3862832"/>
                    <a:pt x="0" y="3755136"/>
                  </a:cubicBezTo>
                  <a:close/>
                </a:path>
              </a:pathLst>
            </a:custGeom>
            <a:solidFill>
              <a:srgbClr val="EFF6F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729216" y="6309360"/>
            <a:ext cx="1024128" cy="1024128"/>
            <a:chOff x="0" y="0"/>
            <a:chExt cx="1365504" cy="136550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682752"/>
                  </a:moveTo>
                  <a:cubicBezTo>
                    <a:pt x="0" y="305689"/>
                    <a:pt x="305689" y="0"/>
                    <a:pt x="682752" y="0"/>
                  </a:cubicBezTo>
                  <a:cubicBezTo>
                    <a:pt x="1059815" y="0"/>
                    <a:pt x="1365504" y="305689"/>
                    <a:pt x="1365504" y="682752"/>
                  </a:cubicBezTo>
                  <a:cubicBezTo>
                    <a:pt x="1365504" y="1059815"/>
                    <a:pt x="1059815" y="1365504"/>
                    <a:pt x="682752" y="1365504"/>
                  </a:cubicBezTo>
                  <a:cubicBezTo>
                    <a:pt x="305689" y="1365504"/>
                    <a:pt x="0" y="1059815"/>
                    <a:pt x="0" y="682752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966960" y="6547104"/>
            <a:ext cx="548640" cy="548640"/>
            <a:chOff x="0" y="0"/>
            <a:chExt cx="731520" cy="731520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064240" y="6181344"/>
            <a:ext cx="6035040" cy="1005840"/>
            <a:chOff x="0" y="0"/>
            <a:chExt cx="8046720" cy="13411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046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80467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D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 GPU &amp; évaluation robuste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064240" y="7059168"/>
            <a:ext cx="5943600" cy="1645920"/>
            <a:chOff x="0" y="0"/>
            <a:chExt cx="7924800" cy="21945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924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792480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5B71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GPU pour 4 M images, et un jeu de test conséquent (≫ 30) pour mesurer des gains fiables, pas du bruit.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77440" y="5669280"/>
            <a:ext cx="7680960" cy="7680960"/>
            <a:chOff x="0" y="0"/>
            <a:chExt cx="10241280" cy="10241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4128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0241280">
                  <a:moveTo>
                    <a:pt x="0" y="5120640"/>
                  </a:moveTo>
                  <a:cubicBezTo>
                    <a:pt x="0" y="2292604"/>
                    <a:pt x="2292604" y="0"/>
                    <a:pt x="5120640" y="0"/>
                  </a:cubicBezTo>
                  <a:cubicBezTo>
                    <a:pt x="7948676" y="0"/>
                    <a:pt x="10241280" y="2292604"/>
                    <a:pt x="10241280" y="5120640"/>
                  </a:cubicBezTo>
                  <a:cubicBezTo>
                    <a:pt x="10241280" y="7948676"/>
                    <a:pt x="7948676" y="10241280"/>
                    <a:pt x="5120640" y="10241280"/>
                  </a:cubicBezTo>
                  <a:cubicBezTo>
                    <a:pt x="2292604" y="10241280"/>
                    <a:pt x="0" y="7948676"/>
                    <a:pt x="0" y="5120640"/>
                  </a:cubicBezTo>
                  <a:close/>
                </a:path>
              </a:pathLst>
            </a:custGeom>
            <a:solidFill>
              <a:srgbClr val="0C7B8C">
                <a:alpha val="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361920" y="-2560320"/>
            <a:ext cx="6949440" cy="6949440"/>
            <a:chOff x="0" y="0"/>
            <a:chExt cx="9265920" cy="9265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65920" cy="9265920"/>
            </a:xfrm>
            <a:custGeom>
              <a:avLst/>
              <a:gdLst/>
              <a:ahLst/>
              <a:cxnLst/>
              <a:rect r="r" b="b" t="t" l="l"/>
              <a:pathLst>
                <a:path h="9265920" w="9265920">
                  <a:moveTo>
                    <a:pt x="0" y="4632960"/>
                  </a:moveTo>
                  <a:cubicBezTo>
                    <a:pt x="0" y="2074291"/>
                    <a:pt x="2074291" y="0"/>
                    <a:pt x="4632960" y="0"/>
                  </a:cubicBezTo>
                  <a:cubicBezTo>
                    <a:pt x="7191628" y="0"/>
                    <a:pt x="9265920" y="2074291"/>
                    <a:pt x="9265920" y="4632960"/>
                  </a:cubicBezTo>
                  <a:cubicBezTo>
                    <a:pt x="9265920" y="7191628"/>
                    <a:pt x="7191629" y="9265920"/>
                    <a:pt x="4632960" y="9265920"/>
                  </a:cubicBezTo>
                  <a:cubicBezTo>
                    <a:pt x="2074290" y="9265920"/>
                    <a:pt x="0" y="7191629"/>
                    <a:pt x="0" y="4632960"/>
                  </a:cubicBezTo>
                  <a:close/>
                </a:path>
              </a:pathLst>
            </a:custGeom>
            <a:solidFill>
              <a:srgbClr val="12B5A5">
                <a:alpha val="2353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1097280"/>
            <a:ext cx="1737360" cy="1737360"/>
            <a:chOff x="0" y="0"/>
            <a:chExt cx="2316480" cy="2316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64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316480">
                  <a:moveTo>
                    <a:pt x="0" y="1158240"/>
                  </a:moveTo>
                  <a:cubicBezTo>
                    <a:pt x="0" y="518541"/>
                    <a:pt x="518541" y="0"/>
                    <a:pt x="1158240" y="0"/>
                  </a:cubicBezTo>
                  <a:cubicBezTo>
                    <a:pt x="1797939" y="0"/>
                    <a:pt x="2316480" y="518541"/>
                    <a:pt x="2316480" y="1158240"/>
                  </a:cubicBezTo>
                  <a:cubicBezTo>
                    <a:pt x="2316480" y="1797939"/>
                    <a:pt x="1797939" y="2316480"/>
                    <a:pt x="1158240" y="2316480"/>
                  </a:cubicBezTo>
                  <a:cubicBezTo>
                    <a:pt x="518541" y="2316480"/>
                    <a:pt x="0" y="1797939"/>
                    <a:pt x="0" y="1158240"/>
                  </a:cubicBezTo>
                  <a:close/>
                </a:path>
              </a:pathLst>
            </a:custGeom>
            <a:solidFill>
              <a:srgbClr val="0C7B8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81328" y="1481328"/>
            <a:ext cx="969264" cy="969264"/>
            <a:chOff x="0" y="0"/>
            <a:chExt cx="1292352" cy="129235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292352" cy="1292352"/>
            </a:xfrm>
            <a:custGeom>
              <a:avLst/>
              <a:gdLst/>
              <a:ahLst/>
              <a:cxnLst/>
              <a:rect r="r" b="b" t="t" l="l"/>
              <a:pathLst>
                <a:path h="1292352" w="1292352">
                  <a:moveTo>
                    <a:pt x="0" y="0"/>
                  </a:moveTo>
                  <a:lnTo>
                    <a:pt x="1292352" y="0"/>
                  </a:lnTo>
                  <a:lnTo>
                    <a:pt x="1292352" y="1292352"/>
                  </a:lnTo>
                  <a:lnTo>
                    <a:pt x="0" y="129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3200400"/>
            <a:ext cx="14630400" cy="1097280"/>
            <a:chOff x="0" y="0"/>
            <a:chExt cx="1950720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95072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spc="400">
                  <a:solidFill>
                    <a:srgbClr val="12B5A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4114800"/>
            <a:ext cx="16276320" cy="3125425"/>
            <a:chOff x="0" y="0"/>
            <a:chExt cx="21701760" cy="41672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01761" cy="4167233"/>
            </a:xfrm>
            <a:custGeom>
              <a:avLst/>
              <a:gdLst/>
              <a:ahLst/>
              <a:cxnLst/>
              <a:rect r="r" b="b" t="t" l="l"/>
              <a:pathLst>
                <a:path h="4167233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4167233"/>
                  </a:lnTo>
                  <a:lnTo>
                    <a:pt x="0" y="41672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587" r="0" b="-4535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21701760" cy="4281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96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 semi-supervisé fonctionne, à condition d'opérer dans un bon espace de features.</a:t>
              </a:r>
            </a:p>
            <a:p>
              <a:pPr algn="l">
                <a:lnSpc>
                  <a:spcPts val="5796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Égalisation (CLAHE) + label propagation : F1 0,90, AUC 0,975, rappel 0,87.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7406640"/>
            <a:ext cx="16276320" cy="2194560"/>
            <a:chOff x="0" y="0"/>
            <a:chExt cx="21701760" cy="2926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01761" cy="2926080"/>
            </a:xfrm>
            <a:custGeom>
              <a:avLst/>
              <a:gdLst/>
              <a:ahLst/>
              <a:cxnLst/>
              <a:rect r="r" b="b" t="t" l="l"/>
              <a:pathLst>
                <a:path h="292608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514" r="0" b="-9451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1701760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C7DB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Levier confirmé : la qualité des features. Égalisation + embeddings pré-entraînés + propagation légère battent un CNN entraîné de zéro.</a:t>
              </a:r>
            </a:p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C7DB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Passage à l'échelle : features auto-supervisées (SimCLR/DINO) + propagation et active learning. Pas encore un diagnostic clinique fiable (rappel 0,87).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DAHNY2KImXY</dc:identifier>
  <dcterms:modified xsi:type="dcterms:W3CDTF">2011-08-01T06:04:30Z</dcterms:modified>
  <cp:revision>1</cp:revision>
  <dc:title>BrainScanAI.pptx</dc:title>
</cp:coreProperties>
</file>